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3" d="100"/>
          <a:sy n="83" d="100"/>
        </p:scale>
        <p:origin x="4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j Kaushik" userId="59cf9cc27bd3d208" providerId="LiveId" clId="{DF68FB44-E6C0-4367-A2DD-E70045F04477}"/>
    <pc:docChg chg="undo custSel modSld sldOrd">
      <pc:chgData name="Anuj Kaushik" userId="59cf9cc27bd3d208" providerId="LiveId" clId="{DF68FB44-E6C0-4367-A2DD-E70045F04477}" dt="2026-09-04T15:27:41.384" v="202" actId="14100"/>
      <pc:docMkLst>
        <pc:docMk/>
      </pc:docMkLst>
      <pc:sldChg chg="addSp modSp mod">
        <pc:chgData name="Anuj Kaushik" userId="59cf9cc27bd3d208" providerId="LiveId" clId="{DF68FB44-E6C0-4367-A2DD-E70045F04477}" dt="2026-09-04T15:21:29.209" v="181" actId="20577"/>
        <pc:sldMkLst>
          <pc:docMk/>
          <pc:sldMk cId="0" sldId="257"/>
        </pc:sldMkLst>
        <pc:spChg chg="mod">
          <ac:chgData name="Anuj Kaushik" userId="59cf9cc27bd3d208" providerId="LiveId" clId="{DF68FB44-E6C0-4367-A2DD-E70045F04477}" dt="2026-09-04T15:21:29.209" v="181" actId="20577"/>
          <ac:spMkLst>
            <pc:docMk/>
            <pc:sldMk cId="0" sldId="257"/>
            <ac:spMk id="3" creationId="{00000000-0000-0000-0000-000000000000}"/>
          </ac:spMkLst>
        </pc:spChg>
        <pc:spChg chg="mod">
          <ac:chgData name="Anuj Kaushik" userId="59cf9cc27bd3d208" providerId="LiveId" clId="{DF68FB44-E6C0-4367-A2DD-E70045F04477}" dt="2026-09-04T15:20:08.934" v="144" actId="20577"/>
          <ac:spMkLst>
            <pc:docMk/>
            <pc:sldMk cId="0" sldId="257"/>
            <ac:spMk id="7" creationId="{00000000-0000-0000-0000-000000000000}"/>
          </ac:spMkLst>
        </pc:spChg>
        <pc:spChg chg="add mod">
          <ac:chgData name="Anuj Kaushik" userId="59cf9cc27bd3d208" providerId="LiveId" clId="{DF68FB44-E6C0-4367-A2DD-E70045F04477}" dt="2026-09-04T15:19:16.982" v="135"/>
          <ac:spMkLst>
            <pc:docMk/>
            <pc:sldMk cId="0" sldId="257"/>
            <ac:spMk id="8" creationId="{6BC2B7F5-DD98-DCF4-C709-F7A8907933BF}"/>
          </ac:spMkLst>
        </pc:spChg>
        <pc:spChg chg="add mod">
          <ac:chgData name="Anuj Kaushik" userId="59cf9cc27bd3d208" providerId="LiveId" clId="{DF68FB44-E6C0-4367-A2DD-E70045F04477}" dt="2026-09-04T15:19:16.982" v="135"/>
          <ac:spMkLst>
            <pc:docMk/>
            <pc:sldMk cId="0" sldId="257"/>
            <ac:spMk id="9" creationId="{275FC52B-7DD9-F848-7BE5-A7060189D53A}"/>
          </ac:spMkLst>
        </pc:spChg>
        <pc:spChg chg="add mod">
          <ac:chgData name="Anuj Kaushik" userId="59cf9cc27bd3d208" providerId="LiveId" clId="{DF68FB44-E6C0-4367-A2DD-E70045F04477}" dt="2026-09-04T15:19:16.982" v="135"/>
          <ac:spMkLst>
            <pc:docMk/>
            <pc:sldMk cId="0" sldId="257"/>
            <ac:spMk id="10" creationId="{6425B05A-A696-5D7F-AE8A-A72640B239C3}"/>
          </ac:spMkLst>
        </pc:spChg>
        <pc:spChg chg="add mod">
          <ac:chgData name="Anuj Kaushik" userId="59cf9cc27bd3d208" providerId="LiveId" clId="{DF68FB44-E6C0-4367-A2DD-E70045F04477}" dt="2026-09-04T15:19:16.982" v="135"/>
          <ac:spMkLst>
            <pc:docMk/>
            <pc:sldMk cId="0" sldId="257"/>
            <ac:spMk id="11" creationId="{3999D785-BBEB-FD06-583E-8AA3FF0A9164}"/>
          </ac:spMkLst>
        </pc:spChg>
        <pc:spChg chg="mod">
          <ac:chgData name="Anuj Kaushik" userId="59cf9cc27bd3d208" providerId="LiveId" clId="{DF68FB44-E6C0-4367-A2DD-E70045F04477}" dt="2026-09-04T15:19:34.263" v="137" actId="1076"/>
          <ac:spMkLst>
            <pc:docMk/>
            <pc:sldMk cId="0" sldId="257"/>
            <ac:spMk id="12" creationId="{00000000-0000-0000-0000-000000000000}"/>
          </ac:spMkLst>
        </pc:spChg>
        <pc:spChg chg="mod">
          <ac:chgData name="Anuj Kaushik" userId="59cf9cc27bd3d208" providerId="LiveId" clId="{DF68FB44-E6C0-4367-A2DD-E70045F04477}" dt="2026-09-04T15:19:58.223" v="141" actId="1076"/>
          <ac:spMkLst>
            <pc:docMk/>
            <pc:sldMk cId="0" sldId="257"/>
            <ac:spMk id="13" creationId="{00000000-0000-0000-0000-000000000000}"/>
          </ac:spMkLst>
        </pc:spChg>
        <pc:spChg chg="mod">
          <ac:chgData name="Anuj Kaushik" userId="59cf9cc27bd3d208" providerId="LiveId" clId="{DF68FB44-E6C0-4367-A2DD-E70045F04477}" dt="2026-09-04T15:19:52.813" v="140" actId="1076"/>
          <ac:spMkLst>
            <pc:docMk/>
            <pc:sldMk cId="0" sldId="257"/>
            <ac:spMk id="14" creationId="{00000000-0000-0000-0000-000000000000}"/>
          </ac:spMkLst>
        </pc:spChg>
        <pc:spChg chg="mod">
          <ac:chgData name="Anuj Kaushik" userId="59cf9cc27bd3d208" providerId="LiveId" clId="{DF68FB44-E6C0-4367-A2DD-E70045F04477}" dt="2026-09-04T15:19:39.218" v="138" actId="1076"/>
          <ac:spMkLst>
            <pc:docMk/>
            <pc:sldMk cId="0" sldId="257"/>
            <ac:spMk id="16" creationId="{00000000-0000-0000-0000-000000000000}"/>
          </ac:spMkLst>
        </pc:spChg>
        <pc:spChg chg="mod">
          <ac:chgData name="Anuj Kaushik" userId="59cf9cc27bd3d208" providerId="LiveId" clId="{DF68FB44-E6C0-4367-A2DD-E70045F04477}" dt="2026-09-04T15:19:46.442" v="139" actId="1076"/>
          <ac:spMkLst>
            <pc:docMk/>
            <pc:sldMk cId="0" sldId="257"/>
            <ac:spMk id="17" creationId="{00000000-0000-0000-0000-000000000000}"/>
          </ac:spMkLst>
        </pc:spChg>
        <pc:spChg chg="mod">
          <ac:chgData name="Anuj Kaushik" userId="59cf9cc27bd3d208" providerId="LiveId" clId="{DF68FB44-E6C0-4367-A2DD-E70045F04477}" dt="2026-09-04T15:20:03.941" v="142" actId="1076"/>
          <ac:spMkLst>
            <pc:docMk/>
            <pc:sldMk cId="0" sldId="257"/>
            <ac:spMk id="18" creationId="{00000000-0000-0000-0000-000000000000}"/>
          </ac:spMkLst>
        </pc:spChg>
        <pc:spChg chg="add mod">
          <ac:chgData name="Anuj Kaushik" userId="59cf9cc27bd3d208" providerId="LiveId" clId="{DF68FB44-E6C0-4367-A2DD-E70045F04477}" dt="2026-09-04T15:21:07.579" v="172" actId="14100"/>
          <ac:spMkLst>
            <pc:docMk/>
            <pc:sldMk cId="0" sldId="257"/>
            <ac:spMk id="43" creationId="{06EFFC32-8791-79CA-1617-865E8DDDEFB1}"/>
          </ac:spMkLst>
        </pc:spChg>
        <pc:spChg chg="add mod">
          <ac:chgData name="Anuj Kaushik" userId="59cf9cc27bd3d208" providerId="LiveId" clId="{DF68FB44-E6C0-4367-A2DD-E70045F04477}" dt="2026-09-04T15:20:37.838" v="151" actId="20577"/>
          <ac:spMkLst>
            <pc:docMk/>
            <pc:sldMk cId="0" sldId="257"/>
            <ac:spMk id="44" creationId="{07825398-62C8-6CEC-7491-A923EB9E5C2C}"/>
          </ac:spMkLst>
        </pc:spChg>
        <pc:spChg chg="add mod">
          <ac:chgData name="Anuj Kaushik" userId="59cf9cc27bd3d208" providerId="LiveId" clId="{DF68FB44-E6C0-4367-A2DD-E70045F04477}" dt="2026-09-04T15:20:13.366" v="145"/>
          <ac:spMkLst>
            <pc:docMk/>
            <pc:sldMk cId="0" sldId="257"/>
            <ac:spMk id="45" creationId="{081006ED-241A-038E-B111-D7FB4BC0630B}"/>
          </ac:spMkLst>
        </pc:spChg>
        <pc:spChg chg="add mod">
          <ac:chgData name="Anuj Kaushik" userId="59cf9cc27bd3d208" providerId="LiveId" clId="{DF68FB44-E6C0-4367-A2DD-E70045F04477}" dt="2026-09-04T15:20:55.150" v="171" actId="1076"/>
          <ac:spMkLst>
            <pc:docMk/>
            <pc:sldMk cId="0" sldId="257"/>
            <ac:spMk id="46" creationId="{30FF8C9A-F7E1-08E2-78C9-834A244B8E99}"/>
          </ac:spMkLst>
        </pc:spChg>
      </pc:sldChg>
      <pc:sldChg chg="modSp mod">
        <pc:chgData name="Anuj Kaushik" userId="59cf9cc27bd3d208" providerId="LiveId" clId="{DF68FB44-E6C0-4367-A2DD-E70045F04477}" dt="2026-09-04T14:41:08.977" v="28" actId="5793"/>
        <pc:sldMkLst>
          <pc:docMk/>
          <pc:sldMk cId="0" sldId="258"/>
        </pc:sldMkLst>
        <pc:spChg chg="mod">
          <ac:chgData name="Anuj Kaushik" userId="59cf9cc27bd3d208" providerId="LiveId" clId="{DF68FB44-E6C0-4367-A2DD-E70045F04477}" dt="2026-09-04T14:41:08.977" v="28" actId="5793"/>
          <ac:spMkLst>
            <pc:docMk/>
            <pc:sldMk cId="0" sldId="258"/>
            <ac:spMk id="15" creationId="{00000000-0000-0000-0000-000000000000}"/>
          </ac:spMkLst>
        </pc:spChg>
      </pc:sldChg>
      <pc:sldChg chg="modSp mod">
        <pc:chgData name="Anuj Kaushik" userId="59cf9cc27bd3d208" providerId="LiveId" clId="{DF68FB44-E6C0-4367-A2DD-E70045F04477}" dt="2026-09-04T15:18:13.728" v="129" actId="20577"/>
        <pc:sldMkLst>
          <pc:docMk/>
          <pc:sldMk cId="0" sldId="259"/>
        </pc:sldMkLst>
        <pc:spChg chg="mod">
          <ac:chgData name="Anuj Kaushik" userId="59cf9cc27bd3d208" providerId="LiveId" clId="{DF68FB44-E6C0-4367-A2DD-E70045F04477}" dt="2026-09-04T15:18:13.728" v="129" actId="20577"/>
          <ac:spMkLst>
            <pc:docMk/>
            <pc:sldMk cId="0" sldId="259"/>
            <ac:spMk id="10" creationId="{00000000-0000-0000-0000-000000000000}"/>
          </ac:spMkLst>
        </pc:spChg>
      </pc:sldChg>
      <pc:sldChg chg="addSp delSp modSp mod">
        <pc:chgData name="Anuj Kaushik" userId="59cf9cc27bd3d208" providerId="LiveId" clId="{DF68FB44-E6C0-4367-A2DD-E70045F04477}" dt="2026-09-04T15:27:16.186" v="200" actId="113"/>
        <pc:sldMkLst>
          <pc:docMk/>
          <pc:sldMk cId="0" sldId="261"/>
        </pc:sldMkLst>
        <pc:spChg chg="mod">
          <ac:chgData name="Anuj Kaushik" userId="59cf9cc27bd3d208" providerId="LiveId" clId="{DF68FB44-E6C0-4367-A2DD-E70045F04477}" dt="2026-09-04T15:17:00.449" v="104" actId="20577"/>
          <ac:spMkLst>
            <pc:docMk/>
            <pc:sldMk cId="0" sldId="261"/>
            <ac:spMk id="5" creationId="{00000000-0000-0000-0000-000000000000}"/>
          </ac:spMkLst>
        </pc:spChg>
        <pc:spChg chg="mod">
          <ac:chgData name="Anuj Kaushik" userId="59cf9cc27bd3d208" providerId="LiveId" clId="{DF68FB44-E6C0-4367-A2DD-E70045F04477}" dt="2026-09-04T15:16:43.511" v="98" actId="1076"/>
          <ac:spMkLst>
            <pc:docMk/>
            <pc:sldMk cId="0" sldId="261"/>
            <ac:spMk id="7" creationId="{00000000-0000-0000-0000-000000000000}"/>
          </ac:spMkLst>
        </pc:spChg>
        <pc:spChg chg="mod">
          <ac:chgData name="Anuj Kaushik" userId="59cf9cc27bd3d208" providerId="LiveId" clId="{DF68FB44-E6C0-4367-A2DD-E70045F04477}" dt="2026-09-04T15:27:16.186" v="200" actId="113"/>
          <ac:spMkLst>
            <pc:docMk/>
            <pc:sldMk cId="0" sldId="261"/>
            <ac:spMk id="8" creationId="{00000000-0000-0000-0000-000000000000}"/>
          </ac:spMkLst>
        </pc:spChg>
        <pc:spChg chg="mod">
          <ac:chgData name="Anuj Kaushik" userId="59cf9cc27bd3d208" providerId="LiveId" clId="{DF68FB44-E6C0-4367-A2DD-E70045F04477}" dt="2026-09-04T15:17:17.789" v="121" actId="20577"/>
          <ac:spMkLst>
            <pc:docMk/>
            <pc:sldMk cId="0" sldId="261"/>
            <ac:spMk id="11" creationId="{00000000-0000-0000-0000-000000000000}"/>
          </ac:spMkLst>
        </pc:spChg>
        <pc:spChg chg="add mod">
          <ac:chgData name="Anuj Kaushik" userId="59cf9cc27bd3d208" providerId="LiveId" clId="{DF68FB44-E6C0-4367-A2DD-E70045F04477}" dt="2026-09-04T15:26:52.859" v="199" actId="20577"/>
          <ac:spMkLst>
            <pc:docMk/>
            <pc:sldMk cId="0" sldId="261"/>
            <ac:spMk id="19" creationId="{F248CAE5-4408-46D4-D9DB-5DA9FEDD2E84}"/>
          </ac:spMkLst>
        </pc:spChg>
        <pc:graphicFrameChg chg="add mod">
          <ac:chgData name="Anuj Kaushik" userId="59cf9cc27bd3d208" providerId="LiveId" clId="{DF68FB44-E6C0-4367-A2DD-E70045F04477}" dt="2026-09-04T15:16:52.674" v="100" actId="14100"/>
          <ac:graphicFrameMkLst>
            <pc:docMk/>
            <pc:sldMk cId="0" sldId="261"/>
            <ac:graphicFrameMk id="6" creationId="{B6A38D89-02B0-4155-8584-9B3A0683F915}"/>
          </ac:graphicFrameMkLst>
        </pc:graphicFrameChg>
        <pc:graphicFrameChg chg="del">
          <ac:chgData name="Anuj Kaushik" userId="59cf9cc27bd3d208" providerId="LiveId" clId="{DF68FB44-E6C0-4367-A2DD-E70045F04477}" dt="2026-09-04T15:15:31.622" v="80" actId="478"/>
          <ac:graphicFrameMkLst>
            <pc:docMk/>
            <pc:sldMk cId="0" sldId="261"/>
            <ac:graphicFrameMk id="17" creationId="{EBDCDFB5-E676-E228-9888-1BC2BE067527}"/>
          </ac:graphicFrameMkLst>
        </pc:graphicFrameChg>
      </pc:sldChg>
      <pc:sldChg chg="ord">
        <pc:chgData name="Anuj Kaushik" userId="59cf9cc27bd3d208" providerId="LiveId" clId="{DF68FB44-E6C0-4367-A2DD-E70045F04477}" dt="2026-09-04T15:17:36.608" v="124" actId="20578"/>
        <pc:sldMkLst>
          <pc:docMk/>
          <pc:sldMk cId="0" sldId="264"/>
        </pc:sldMkLst>
      </pc:sldChg>
      <pc:sldChg chg="modSp mod">
        <pc:chgData name="Anuj Kaushik" userId="59cf9cc27bd3d208" providerId="LiveId" clId="{DF68FB44-E6C0-4367-A2DD-E70045F04477}" dt="2026-09-04T15:17:48.897" v="127" actId="20577"/>
        <pc:sldMkLst>
          <pc:docMk/>
          <pc:sldMk cId="0" sldId="265"/>
        </pc:sldMkLst>
        <pc:spChg chg="mod">
          <ac:chgData name="Anuj Kaushik" userId="59cf9cc27bd3d208" providerId="LiveId" clId="{DF68FB44-E6C0-4367-A2DD-E70045F04477}" dt="2026-09-04T15:17:48.897" v="127" actId="20577"/>
          <ac:spMkLst>
            <pc:docMk/>
            <pc:sldMk cId="0" sldId="265"/>
            <ac:spMk id="9" creationId="{00000000-0000-0000-0000-000000000000}"/>
          </ac:spMkLst>
        </pc:spChg>
      </pc:sldChg>
      <pc:sldChg chg="addSp delSp modSp mod">
        <pc:chgData name="Anuj Kaushik" userId="59cf9cc27bd3d208" providerId="LiveId" clId="{DF68FB44-E6C0-4367-A2DD-E70045F04477}" dt="2026-09-04T15:27:41.384" v="202" actId="14100"/>
        <pc:sldMkLst>
          <pc:docMk/>
          <pc:sldMk cId="0" sldId="267"/>
        </pc:sldMkLst>
        <pc:spChg chg="mod">
          <ac:chgData name="Anuj Kaushik" userId="59cf9cc27bd3d208" providerId="LiveId" clId="{DF68FB44-E6C0-4367-A2DD-E70045F04477}" dt="2026-09-04T14:54:03.071" v="77" actId="1076"/>
          <ac:spMkLst>
            <pc:docMk/>
            <pc:sldMk cId="0" sldId="267"/>
            <ac:spMk id="2" creationId="{00000000-0000-0000-0000-000000000000}"/>
          </ac:spMkLst>
        </pc:spChg>
        <pc:spChg chg="mod">
          <ac:chgData name="Anuj Kaushik" userId="59cf9cc27bd3d208" providerId="LiveId" clId="{DF68FB44-E6C0-4367-A2DD-E70045F04477}" dt="2026-09-04T15:22:24.593" v="184" actId="14100"/>
          <ac:spMkLst>
            <pc:docMk/>
            <pc:sldMk cId="0" sldId="267"/>
            <ac:spMk id="5" creationId="{00000000-0000-0000-0000-000000000000}"/>
          </ac:spMkLst>
        </pc:spChg>
        <pc:spChg chg="mod">
          <ac:chgData name="Anuj Kaushik" userId="59cf9cc27bd3d208" providerId="LiveId" clId="{DF68FB44-E6C0-4367-A2DD-E70045F04477}" dt="2026-09-04T14:51:42.145" v="63" actId="20577"/>
          <ac:spMkLst>
            <pc:docMk/>
            <pc:sldMk cId="0" sldId="267"/>
            <ac:spMk id="7" creationId="{00000000-0000-0000-0000-000000000000}"/>
          </ac:spMkLst>
        </pc:spChg>
        <pc:spChg chg="del">
          <ac:chgData name="Anuj Kaushik" userId="59cf9cc27bd3d208" providerId="LiveId" clId="{DF68FB44-E6C0-4367-A2DD-E70045F04477}" dt="2026-09-04T14:51:03.843" v="55" actId="478"/>
          <ac:spMkLst>
            <pc:docMk/>
            <pc:sldMk cId="0" sldId="267"/>
            <ac:spMk id="10" creationId="{00000000-0000-0000-0000-000000000000}"/>
          </ac:spMkLst>
        </pc:spChg>
        <pc:spChg chg="del">
          <ac:chgData name="Anuj Kaushik" userId="59cf9cc27bd3d208" providerId="LiveId" clId="{DF68FB44-E6C0-4367-A2DD-E70045F04477}" dt="2026-09-04T14:51:09.624" v="56" actId="478"/>
          <ac:spMkLst>
            <pc:docMk/>
            <pc:sldMk cId="0" sldId="267"/>
            <ac:spMk id="11" creationId="{00000000-0000-0000-0000-000000000000}"/>
          </ac:spMkLst>
        </pc:spChg>
        <pc:spChg chg="del">
          <ac:chgData name="Anuj Kaushik" userId="59cf9cc27bd3d208" providerId="LiveId" clId="{DF68FB44-E6C0-4367-A2DD-E70045F04477}" dt="2026-09-04T14:51:09.624" v="56" actId="478"/>
          <ac:spMkLst>
            <pc:docMk/>
            <pc:sldMk cId="0" sldId="267"/>
            <ac:spMk id="12" creationId="{00000000-0000-0000-0000-000000000000}"/>
          </ac:spMkLst>
        </pc:spChg>
        <pc:spChg chg="del mod">
          <ac:chgData name="Anuj Kaushik" userId="59cf9cc27bd3d208" providerId="LiveId" clId="{DF68FB44-E6C0-4367-A2DD-E70045F04477}" dt="2026-09-04T14:51:09.624" v="56" actId="478"/>
          <ac:spMkLst>
            <pc:docMk/>
            <pc:sldMk cId="0" sldId="267"/>
            <ac:spMk id="13" creationId="{00000000-0000-0000-0000-000000000000}"/>
          </ac:spMkLst>
        </pc:spChg>
        <pc:spChg chg="del">
          <ac:chgData name="Anuj Kaushik" userId="59cf9cc27bd3d208" providerId="LiveId" clId="{DF68FB44-E6C0-4367-A2DD-E70045F04477}" dt="2026-09-04T14:51:09.624" v="56" actId="478"/>
          <ac:spMkLst>
            <pc:docMk/>
            <pc:sldMk cId="0" sldId="267"/>
            <ac:spMk id="14" creationId="{00000000-0000-0000-0000-000000000000}"/>
          </ac:spMkLst>
        </pc:spChg>
        <pc:spChg chg="add">
          <ac:chgData name="Anuj Kaushik" userId="59cf9cc27bd3d208" providerId="LiveId" clId="{DF68FB44-E6C0-4367-A2DD-E70045F04477}" dt="2026-09-04T14:53:17.465" v="65"/>
          <ac:spMkLst>
            <pc:docMk/>
            <pc:sldMk cId="0" sldId="267"/>
            <ac:spMk id="16" creationId="{6CC824AE-D534-17D3-E926-4E46FC31EB08}"/>
          </ac:spMkLst>
        </pc:spChg>
        <pc:picChg chg="del mod">
          <ac:chgData name="Anuj Kaushik" userId="59cf9cc27bd3d208" providerId="LiveId" clId="{DF68FB44-E6C0-4367-A2DD-E70045F04477}" dt="2026-09-04T14:53:14.870" v="64" actId="478"/>
          <ac:picMkLst>
            <pc:docMk/>
            <pc:sldMk cId="0" sldId="267"/>
            <ac:picMk id="6" creationId="{00000000-0000-0000-0000-000000000000}"/>
          </ac:picMkLst>
        </pc:picChg>
        <pc:picChg chg="add mod">
          <ac:chgData name="Anuj Kaushik" userId="59cf9cc27bd3d208" providerId="LiveId" clId="{DF68FB44-E6C0-4367-A2DD-E70045F04477}" dt="2026-09-04T15:27:41.384" v="202" actId="14100"/>
          <ac:picMkLst>
            <pc:docMk/>
            <pc:sldMk cId="0" sldId="267"/>
            <ac:picMk id="17" creationId="{C8B77956-F4EA-A784-5FD8-0E068155FBBE}"/>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admin\Downloads\REJECTION%20MONITORING%20SHEET%20may'%2026.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5a6b4d68589c14d2/Documents/Excel%20file.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Pareto Chart</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tx>
            <c:strRef>
              <c:f>PARETO!$C$67</c:f>
              <c:strCache>
                <c:ptCount val="1"/>
                <c:pt idx="0">
                  <c:v>Rejection</c:v>
                </c:pt>
              </c:strCache>
            </c:strRef>
          </c:tx>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PARETO!$B$68:$B$92</c:f>
              <c:strCache>
                <c:ptCount val="25"/>
                <c:pt idx="0">
                  <c:v>Misfeed</c:v>
                </c:pt>
                <c:pt idx="1">
                  <c:v>Flange Short</c:v>
                </c:pt>
                <c:pt idx="2">
                  <c:v>Crack</c:v>
                </c:pt>
                <c:pt idx="3">
                  <c:v>Setting</c:v>
                </c:pt>
                <c:pt idx="4">
                  <c:v>Dent / Scratch</c:v>
                </c:pt>
                <c:pt idx="5">
                  <c:v>Flange bend</c:v>
                </c:pt>
                <c:pt idx="6">
                  <c:v>FLANGE CRACK</c:v>
                </c:pt>
                <c:pt idx="7">
                  <c:v>Others</c:v>
                </c:pt>
                <c:pt idx="8">
                  <c:v>Damage</c:v>
                </c:pt>
                <c:pt idx="9">
                  <c:v>Wrinkle</c:v>
                </c:pt>
                <c:pt idx="10">
                  <c:v>Overlap</c:v>
                </c:pt>
                <c:pt idx="11">
                  <c:v>Scrap Mark</c:v>
                </c:pt>
                <c:pt idx="12">
                  <c:v>Raw Material</c:v>
                </c:pt>
                <c:pt idx="13">
                  <c:v>Customer Return</c:v>
                </c:pt>
                <c:pt idx="14">
                  <c:v>Tool Trial</c:v>
                </c:pt>
                <c:pt idx="15">
                  <c:v>Op.  miss</c:v>
                </c:pt>
                <c:pt idx="16">
                  <c:v>Rusty</c:v>
                </c:pt>
                <c:pt idx="17">
                  <c:v>Hole Oversize</c:v>
                </c:pt>
                <c:pt idx="18">
                  <c:v>HOLE OUT</c:v>
                </c:pt>
                <c:pt idx="19">
                  <c:v>Bending NG</c:v>
                </c:pt>
                <c:pt idx="20">
                  <c:v>Hole Miss</c:v>
                </c:pt>
                <c:pt idx="21">
                  <c:v>HOLE VARIANT NG</c:v>
                </c:pt>
                <c:pt idx="22">
                  <c:v>SHOCK LINE</c:v>
                </c:pt>
                <c:pt idx="23">
                  <c:v>FLARING NG</c:v>
                </c:pt>
                <c:pt idx="24">
                  <c:v>FLANGE EXCESS</c:v>
                </c:pt>
              </c:strCache>
            </c:strRef>
          </c:cat>
          <c:val>
            <c:numRef>
              <c:f>PARETO!$C$68:$C$92</c:f>
              <c:numCache>
                <c:formatCode>General</c:formatCode>
                <c:ptCount val="25"/>
                <c:pt idx="0">
                  <c:v>859</c:v>
                </c:pt>
                <c:pt idx="1">
                  <c:v>308</c:v>
                </c:pt>
                <c:pt idx="2">
                  <c:v>300</c:v>
                </c:pt>
                <c:pt idx="3">
                  <c:v>285</c:v>
                </c:pt>
                <c:pt idx="4">
                  <c:v>169</c:v>
                </c:pt>
                <c:pt idx="5">
                  <c:v>167</c:v>
                </c:pt>
                <c:pt idx="6">
                  <c:v>167</c:v>
                </c:pt>
                <c:pt idx="7">
                  <c:v>136</c:v>
                </c:pt>
                <c:pt idx="8">
                  <c:v>116</c:v>
                </c:pt>
                <c:pt idx="9">
                  <c:v>98</c:v>
                </c:pt>
                <c:pt idx="10">
                  <c:v>76</c:v>
                </c:pt>
                <c:pt idx="11">
                  <c:v>32</c:v>
                </c:pt>
                <c:pt idx="12">
                  <c:v>30</c:v>
                </c:pt>
                <c:pt idx="13">
                  <c:v>17</c:v>
                </c:pt>
                <c:pt idx="14">
                  <c:v>8</c:v>
                </c:pt>
                <c:pt idx="15">
                  <c:v>7</c:v>
                </c:pt>
                <c:pt idx="16">
                  <c:v>6</c:v>
                </c:pt>
                <c:pt idx="17">
                  <c:v>3</c:v>
                </c:pt>
                <c:pt idx="18">
                  <c:v>1</c:v>
                </c:pt>
                <c:pt idx="19">
                  <c:v>0</c:v>
                </c:pt>
                <c:pt idx="20">
                  <c:v>0</c:v>
                </c:pt>
                <c:pt idx="21">
                  <c:v>0</c:v>
                </c:pt>
                <c:pt idx="22">
                  <c:v>0</c:v>
                </c:pt>
                <c:pt idx="23">
                  <c:v>0</c:v>
                </c:pt>
                <c:pt idx="24">
                  <c:v>0</c:v>
                </c:pt>
              </c:numCache>
            </c:numRef>
          </c:val>
          <c:extLst>
            <c:ext xmlns:c16="http://schemas.microsoft.com/office/drawing/2014/chart" uri="{C3380CC4-5D6E-409C-BE32-E72D297353CC}">
              <c16:uniqueId val="{00000000-B594-4CEE-AB37-1EDF7AC5B1B1}"/>
            </c:ext>
          </c:extLst>
        </c:ser>
        <c:dLbls>
          <c:showLegendKey val="0"/>
          <c:showVal val="0"/>
          <c:showCatName val="0"/>
          <c:showSerName val="0"/>
          <c:showPercent val="0"/>
          <c:showBubbleSize val="0"/>
        </c:dLbls>
        <c:gapWidth val="269"/>
        <c:overlap val="-27"/>
        <c:axId val="601430400"/>
        <c:axId val="601426080"/>
      </c:barChart>
      <c:lineChart>
        <c:grouping val="standard"/>
        <c:varyColors val="0"/>
        <c:ser>
          <c:idx val="1"/>
          <c:order val="1"/>
          <c:tx>
            <c:strRef>
              <c:f>PARETO!$D$67</c:f>
              <c:strCache>
                <c:ptCount val="1"/>
                <c:pt idx="0">
                  <c:v>Cumulative %</c:v>
                </c:pt>
              </c:strCache>
            </c:strRef>
          </c:tx>
          <c:spPr>
            <a:ln w="34925" cap="rnd">
              <a:solidFill>
                <a:schemeClr val="accent2"/>
              </a:solidFill>
              <a:round/>
            </a:ln>
            <a:effectLst>
              <a:outerShdw blurRad="40000" dist="23000" dir="5400000" rotWithShape="0">
                <a:srgbClr val="000000">
                  <a:alpha val="35000"/>
                </a:srgbClr>
              </a:outerShdw>
            </a:effectLst>
          </c:spPr>
          <c:marker>
            <c:symbol val="none"/>
          </c:marker>
          <c:cat>
            <c:strRef>
              <c:f>PARETO!$B$68:$B$92</c:f>
              <c:strCache>
                <c:ptCount val="25"/>
                <c:pt idx="0">
                  <c:v>Misfeed</c:v>
                </c:pt>
                <c:pt idx="1">
                  <c:v>Flange Short</c:v>
                </c:pt>
                <c:pt idx="2">
                  <c:v>Crack</c:v>
                </c:pt>
                <c:pt idx="3">
                  <c:v>Setting</c:v>
                </c:pt>
                <c:pt idx="4">
                  <c:v>Dent / Scratch</c:v>
                </c:pt>
                <c:pt idx="5">
                  <c:v>Flange bend</c:v>
                </c:pt>
                <c:pt idx="6">
                  <c:v>FLANGE CRACK</c:v>
                </c:pt>
                <c:pt idx="7">
                  <c:v>Others</c:v>
                </c:pt>
                <c:pt idx="8">
                  <c:v>Damage</c:v>
                </c:pt>
                <c:pt idx="9">
                  <c:v>Wrinkle</c:v>
                </c:pt>
                <c:pt idx="10">
                  <c:v>Overlap</c:v>
                </c:pt>
                <c:pt idx="11">
                  <c:v>Scrap Mark</c:v>
                </c:pt>
                <c:pt idx="12">
                  <c:v>Raw Material</c:v>
                </c:pt>
                <c:pt idx="13">
                  <c:v>Customer Return</c:v>
                </c:pt>
                <c:pt idx="14">
                  <c:v>Tool Trial</c:v>
                </c:pt>
                <c:pt idx="15">
                  <c:v>Op.  miss</c:v>
                </c:pt>
                <c:pt idx="16">
                  <c:v>Rusty</c:v>
                </c:pt>
                <c:pt idx="17">
                  <c:v>Hole Oversize</c:v>
                </c:pt>
                <c:pt idx="18">
                  <c:v>HOLE OUT</c:v>
                </c:pt>
                <c:pt idx="19">
                  <c:v>Bending NG</c:v>
                </c:pt>
                <c:pt idx="20">
                  <c:v>Hole Miss</c:v>
                </c:pt>
                <c:pt idx="21">
                  <c:v>HOLE VARIANT NG</c:v>
                </c:pt>
                <c:pt idx="22">
                  <c:v>SHOCK LINE</c:v>
                </c:pt>
                <c:pt idx="23">
                  <c:v>FLARING NG</c:v>
                </c:pt>
                <c:pt idx="24">
                  <c:v>FLANGE EXCESS</c:v>
                </c:pt>
              </c:strCache>
            </c:strRef>
          </c:cat>
          <c:val>
            <c:numRef>
              <c:f>PARETO!$D$68:$D$92</c:f>
              <c:numCache>
                <c:formatCode>0.00</c:formatCode>
                <c:ptCount val="25"/>
                <c:pt idx="0">
                  <c:v>30.843806104129261</c:v>
                </c:pt>
                <c:pt idx="1">
                  <c:v>41.903052064631957</c:v>
                </c:pt>
                <c:pt idx="2">
                  <c:v>52.675044883303414</c:v>
                </c:pt>
                <c:pt idx="3">
                  <c:v>62.908438061041295</c:v>
                </c:pt>
                <c:pt idx="4">
                  <c:v>68.97666068222621</c:v>
                </c:pt>
                <c:pt idx="5">
                  <c:v>74.973070017953319</c:v>
                </c:pt>
                <c:pt idx="6">
                  <c:v>80.969479353680427</c:v>
                </c:pt>
                <c:pt idx="7">
                  <c:v>85.852782764811479</c:v>
                </c:pt>
                <c:pt idx="8">
                  <c:v>90.017953321364459</c:v>
                </c:pt>
                <c:pt idx="9">
                  <c:v>93.53680430879713</c:v>
                </c:pt>
                <c:pt idx="10">
                  <c:v>96.265709156193893</c:v>
                </c:pt>
                <c:pt idx="11">
                  <c:v>97.414721723518852</c:v>
                </c:pt>
                <c:pt idx="12">
                  <c:v>98.49192100538599</c:v>
                </c:pt>
                <c:pt idx="13">
                  <c:v>99.10233393177738</c:v>
                </c:pt>
                <c:pt idx="14">
                  <c:v>99.389587073608624</c:v>
                </c:pt>
                <c:pt idx="15">
                  <c:v>99.640933572710949</c:v>
                </c:pt>
                <c:pt idx="16">
                  <c:v>99.856373429084371</c:v>
                </c:pt>
                <c:pt idx="17">
                  <c:v>99.964093357271096</c:v>
                </c:pt>
                <c:pt idx="18">
                  <c:v>100</c:v>
                </c:pt>
                <c:pt idx="19">
                  <c:v>100</c:v>
                </c:pt>
                <c:pt idx="20">
                  <c:v>100</c:v>
                </c:pt>
                <c:pt idx="21">
                  <c:v>100</c:v>
                </c:pt>
                <c:pt idx="22">
                  <c:v>100</c:v>
                </c:pt>
                <c:pt idx="23">
                  <c:v>100</c:v>
                </c:pt>
                <c:pt idx="24">
                  <c:v>100</c:v>
                </c:pt>
              </c:numCache>
            </c:numRef>
          </c:val>
          <c:smooth val="0"/>
          <c:extLst>
            <c:ext xmlns:c16="http://schemas.microsoft.com/office/drawing/2014/chart" uri="{C3380CC4-5D6E-409C-BE32-E72D297353CC}">
              <c16:uniqueId val="{00000001-B594-4CEE-AB37-1EDF7AC5B1B1}"/>
            </c:ext>
          </c:extLst>
        </c:ser>
        <c:dLbls>
          <c:showLegendKey val="0"/>
          <c:showVal val="0"/>
          <c:showCatName val="0"/>
          <c:showSerName val="0"/>
          <c:showPercent val="0"/>
          <c:showBubbleSize val="0"/>
        </c:dLbls>
        <c:marker val="1"/>
        <c:smooth val="0"/>
        <c:axId val="532756024"/>
        <c:axId val="532761784"/>
      </c:lineChart>
      <c:catAx>
        <c:axId val="60143040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01426080"/>
        <c:crosses val="autoZero"/>
        <c:auto val="1"/>
        <c:lblAlgn val="ctr"/>
        <c:lblOffset val="100"/>
        <c:noMultiLvlLbl val="0"/>
      </c:catAx>
      <c:valAx>
        <c:axId val="60142608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01430400"/>
        <c:crosses val="autoZero"/>
        <c:crossBetween val="between"/>
      </c:valAx>
      <c:valAx>
        <c:axId val="532761784"/>
        <c:scaling>
          <c:orientation val="minMax"/>
        </c:scaling>
        <c:delete val="0"/>
        <c:axPos val="r"/>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532756024"/>
        <c:crosses val="max"/>
        <c:crossBetween val="between"/>
      </c:valAx>
      <c:catAx>
        <c:axId val="532756024"/>
        <c:scaling>
          <c:orientation val="minMax"/>
        </c:scaling>
        <c:delete val="1"/>
        <c:axPos val="b"/>
        <c:numFmt formatCode="General" sourceLinked="1"/>
        <c:majorTickMark val="none"/>
        <c:minorTickMark val="none"/>
        <c:tickLblPos val="nextTo"/>
        <c:crossAx val="53276178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
            </a:r>
            <a:r>
              <a:rPr lang="en-US" baseline="0"/>
              <a:t> Chart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Sheet6!$J$1</c:f>
              <c:strCache>
                <c:ptCount val="1"/>
                <c:pt idx="0">
                  <c:v>Proportion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Sheet6!$I$2:$I$32</c:f>
              <c:numCache>
                <c:formatCode>General</c:formatCod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numCache>
            </c:numRef>
          </c:cat>
          <c:val>
            <c:numRef>
              <c:f>Sheet6!$J$2:$J$32</c:f>
              <c:numCache>
                <c:formatCode>General</c:formatCode>
                <c:ptCount val="31"/>
                <c:pt idx="0">
                  <c:v>1.1708459361888965E-4</c:v>
                </c:pt>
                <c:pt idx="1">
                  <c:v>8.4249152827963229E-4</c:v>
                </c:pt>
                <c:pt idx="2">
                  <c:v>3.453589076032092E-4</c:v>
                </c:pt>
                <c:pt idx="3">
                  <c:v>4.6032885893682447E-4</c:v>
                </c:pt>
                <c:pt idx="4">
                  <c:v>9.3378754604091371E-4</c:v>
                </c:pt>
                <c:pt idx="5">
                  <c:v>3.2586558044806515E-4</c:v>
                </c:pt>
                <c:pt idx="6">
                  <c:v>2.2294249798494281E-4</c:v>
                </c:pt>
                <c:pt idx="7">
                  <c:v>2.3309605350450952E-4</c:v>
                </c:pt>
                <c:pt idx="8">
                  <c:v>4.6204493386981882E-4</c:v>
                </c:pt>
                <c:pt idx="9">
                  <c:v>3.3827353643840248E-4</c:v>
                </c:pt>
                <c:pt idx="10">
                  <c:v>3.0941790756140009E-4</c:v>
                </c:pt>
                <c:pt idx="11">
                  <c:v>4.9837139348201417E-4</c:v>
                </c:pt>
                <c:pt idx="12">
                  <c:v>8.6772601551060255E-4</c:v>
                </c:pt>
                <c:pt idx="13">
                  <c:v>2.3633877475226633E-4</c:v>
                </c:pt>
                <c:pt idx="14">
                  <c:v>1.0354954251472611E-3</c:v>
                </c:pt>
                <c:pt idx="15">
                  <c:v>1.8010878570656676E-4</c:v>
                </c:pt>
                <c:pt idx="16">
                  <c:v>7.4506693585214031E-4</c:v>
                </c:pt>
                <c:pt idx="17">
                  <c:v>2.2225926543312775E-4</c:v>
                </c:pt>
                <c:pt idx="18">
                  <c:v>3.3772374197906115E-4</c:v>
                </c:pt>
                <c:pt idx="19">
                  <c:v>1.514616044832635E-4</c:v>
                </c:pt>
                <c:pt idx="20">
                  <c:v>3.2266281735586315E-4</c:v>
                </c:pt>
                <c:pt idx="21">
                  <c:v>1.9911063914515166E-4</c:v>
                </c:pt>
                <c:pt idx="22">
                  <c:v>6.6782422866301584E-5</c:v>
                </c:pt>
                <c:pt idx="23">
                  <c:v>1.541148669474982E-4</c:v>
                </c:pt>
                <c:pt idx="24">
                  <c:v>2.1943150361218014E-4</c:v>
                </c:pt>
                <c:pt idx="25">
                  <c:v>1.7938024126642452E-4</c:v>
                </c:pt>
                <c:pt idx="26">
                  <c:v>1.6945418806025791E-4</c:v>
                </c:pt>
                <c:pt idx="27">
                  <c:v>1.855850992036712E-4</c:v>
                </c:pt>
                <c:pt idx="28">
                  <c:v>2.5020850708924101E-4</c:v>
                </c:pt>
                <c:pt idx="29">
                  <c:v>3.2480853391684899E-4</c:v>
                </c:pt>
                <c:pt idx="30">
                  <c:v>1.1531032892271325E-4</c:v>
                </c:pt>
              </c:numCache>
            </c:numRef>
          </c:val>
          <c:smooth val="0"/>
          <c:extLst>
            <c:ext xmlns:c16="http://schemas.microsoft.com/office/drawing/2014/chart" uri="{C3380CC4-5D6E-409C-BE32-E72D297353CC}">
              <c16:uniqueId val="{00000000-C38B-4939-882E-E3C1C093D92B}"/>
            </c:ext>
          </c:extLst>
        </c:ser>
        <c:ser>
          <c:idx val="1"/>
          <c:order val="1"/>
          <c:tx>
            <c:strRef>
              <c:f>Sheet6!$K$1</c:f>
              <c:strCache>
                <c:ptCount val="1"/>
                <c:pt idx="0">
                  <c:v>UCL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Sheet6!$I$2:$I$32</c:f>
              <c:numCache>
                <c:formatCode>General</c:formatCod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numCache>
            </c:numRef>
          </c:cat>
          <c:val>
            <c:numRef>
              <c:f>Sheet6!$K$2:$K$32</c:f>
              <c:numCache>
                <c:formatCode>General</c:formatCode>
                <c:ptCount val="31"/>
                <c:pt idx="0">
                  <c:v>6.0227822247853357E-4</c:v>
                </c:pt>
                <c:pt idx="1">
                  <c:v>5.9717182280614664E-4</c:v>
                </c:pt>
                <c:pt idx="2">
                  <c:v>6.4381223457141883E-4</c:v>
                </c:pt>
                <c:pt idx="3">
                  <c:v>5.9515128095922229E-4</c:v>
                </c:pt>
                <c:pt idx="4">
                  <c:v>5.8767339732401899E-4</c:v>
                </c:pt>
                <c:pt idx="5">
                  <c:v>5.8080049053117506E-4</c:v>
                </c:pt>
                <c:pt idx="6">
                  <c:v>5.8670249251288327E-4</c:v>
                </c:pt>
                <c:pt idx="7">
                  <c:v>5.9195952045551774E-4</c:v>
                </c:pt>
                <c:pt idx="8">
                  <c:v>6.0059933448787669E-4</c:v>
                </c:pt>
                <c:pt idx="9">
                  <c:v>6.1245815816330751E-4</c:v>
                </c:pt>
                <c:pt idx="10">
                  <c:v>6.0115598440718817E-4</c:v>
                </c:pt>
                <c:pt idx="11">
                  <c:v>5.910826425210246E-4</c:v>
                </c:pt>
                <c:pt idx="12">
                  <c:v>5.9293711177566184E-4</c:v>
                </c:pt>
                <c:pt idx="13">
                  <c:v>5.84870588822984E-4</c:v>
                </c:pt>
                <c:pt idx="14">
                  <c:v>5.8551452833511164E-4</c:v>
                </c:pt>
                <c:pt idx="15">
                  <c:v>5.9249420373613782E-4</c:v>
                </c:pt>
                <c:pt idx="16">
                  <c:v>6.2962066450437926E-4</c:v>
                </c:pt>
                <c:pt idx="17">
                  <c:v>5.9586263278019365E-4</c:v>
                </c:pt>
                <c:pt idx="18">
                  <c:v>5.741230396754584E-4</c:v>
                </c:pt>
                <c:pt idx="19">
                  <c:v>5.845116911751422E-4</c:v>
                </c:pt>
                <c:pt idx="20">
                  <c:v>5.8556185699099365E-4</c:v>
                </c:pt>
                <c:pt idx="21">
                  <c:v>5.8288084380185633E-4</c:v>
                </c:pt>
                <c:pt idx="22">
                  <c:v>5.8359284651508423E-4</c:v>
                </c:pt>
                <c:pt idx="23">
                  <c:v>5.8652852804464881E-4</c:v>
                </c:pt>
                <c:pt idx="24">
                  <c:v>5.8485690452109195E-4</c:v>
                </c:pt>
                <c:pt idx="25">
                  <c:v>5.7120648978323078E-4</c:v>
                </c:pt>
                <c:pt idx="26">
                  <c:v>5.8530977123596073E-4</c:v>
                </c:pt>
                <c:pt idx="27">
                  <c:v>5.84802191557332E-4</c:v>
                </c:pt>
                <c:pt idx="28">
                  <c:v>5.8348908025317614E-4</c:v>
                </c:pt>
                <c:pt idx="29">
                  <c:v>5.8633303306517383E-4</c:v>
                </c:pt>
                <c:pt idx="30">
                  <c:v>6.5592733989973764E-4</c:v>
                </c:pt>
              </c:numCache>
            </c:numRef>
          </c:val>
          <c:smooth val="0"/>
          <c:extLst>
            <c:ext xmlns:c16="http://schemas.microsoft.com/office/drawing/2014/chart" uri="{C3380CC4-5D6E-409C-BE32-E72D297353CC}">
              <c16:uniqueId val="{00000001-C38B-4939-882E-E3C1C093D92B}"/>
            </c:ext>
          </c:extLst>
        </c:ser>
        <c:ser>
          <c:idx val="2"/>
          <c:order val="2"/>
          <c:tx>
            <c:strRef>
              <c:f>Sheet6!$L$1</c:f>
              <c:strCache>
                <c:ptCount val="1"/>
                <c:pt idx="0">
                  <c:v>LCL</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Sheet6!$I$2:$I$32</c:f>
              <c:numCache>
                <c:formatCode>General</c:formatCod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numCache>
            </c:numRef>
          </c:cat>
          <c:val>
            <c:numRef>
              <c:f>Sheet6!$L$2:$L$32</c:f>
              <c:numCache>
                <c:formatCode>0.000000</c:formatCode>
                <c:ptCount val="31"/>
                <c:pt idx="0">
                  <c:v>1.0421219342121916E-4</c:v>
                </c:pt>
                <c:pt idx="1">
                  <c:v>1.0931859309360614E-4</c:v>
                </c:pt>
                <c:pt idx="2">
                  <c:v>6.2678181328333898E-5</c:v>
                </c:pt>
                <c:pt idx="3">
                  <c:v>1.1133913494053047E-4</c:v>
                </c:pt>
                <c:pt idx="4">
                  <c:v>1.1881701857573374E-4</c:v>
                </c:pt>
                <c:pt idx="5">
                  <c:v>1.256899253685777E-4</c:v>
                </c:pt>
                <c:pt idx="6">
                  <c:v>1.1978792338686946E-4</c:v>
                </c:pt>
                <c:pt idx="7">
                  <c:v>1.1453089544423499E-4</c:v>
                </c:pt>
                <c:pt idx="8">
                  <c:v>1.0589108141187604E-4</c:v>
                </c:pt>
                <c:pt idx="9">
                  <c:v>9.403225773644522E-5</c:v>
                </c:pt>
                <c:pt idx="10">
                  <c:v>1.0533443149256456E-4</c:v>
                </c:pt>
                <c:pt idx="11">
                  <c:v>1.1540777337872813E-4</c:v>
                </c:pt>
                <c:pt idx="12">
                  <c:v>1.1355330412409084E-4</c:v>
                </c:pt>
                <c:pt idx="13">
                  <c:v>1.2161982707676873E-4</c:v>
                </c:pt>
                <c:pt idx="14">
                  <c:v>1.2097588756464114E-4</c:v>
                </c:pt>
                <c:pt idx="15">
                  <c:v>1.1399621216361493E-4</c:v>
                </c:pt>
                <c:pt idx="16">
                  <c:v>7.6869751395373465E-5</c:v>
                </c:pt>
                <c:pt idx="17">
                  <c:v>1.1062778311955902E-4</c:v>
                </c:pt>
                <c:pt idx="18">
                  <c:v>1.3236737622429433E-4</c:v>
                </c:pt>
                <c:pt idx="19">
                  <c:v>1.2197872472461053E-4</c:v>
                </c:pt>
                <c:pt idx="20">
                  <c:v>1.2092855890875908E-4</c:v>
                </c:pt>
                <c:pt idx="21">
                  <c:v>1.236095720978964E-4</c:v>
                </c:pt>
                <c:pt idx="22">
                  <c:v>1.228975693846685E-4</c:v>
                </c:pt>
                <c:pt idx="23">
                  <c:v>1.1996188785510389E-4</c:v>
                </c:pt>
                <c:pt idx="24">
                  <c:v>1.2163351137866078E-4</c:v>
                </c:pt>
                <c:pt idx="25">
                  <c:v>1.3528392611652189E-4</c:v>
                </c:pt>
                <c:pt idx="26">
                  <c:v>1.2118064466379205E-4</c:v>
                </c:pt>
                <c:pt idx="27">
                  <c:v>1.2168822434242078E-4</c:v>
                </c:pt>
                <c:pt idx="28">
                  <c:v>1.2300133564657661E-4</c:v>
                </c:pt>
                <c:pt idx="29">
                  <c:v>1.2015738283457892E-4</c:v>
                </c:pt>
                <c:pt idx="30">
                  <c:v>5.0563076000015035E-5</c:v>
                </c:pt>
              </c:numCache>
            </c:numRef>
          </c:val>
          <c:smooth val="0"/>
          <c:extLst>
            <c:ext xmlns:c16="http://schemas.microsoft.com/office/drawing/2014/chart" uri="{C3380CC4-5D6E-409C-BE32-E72D297353CC}">
              <c16:uniqueId val="{00000002-C38B-4939-882E-E3C1C093D92B}"/>
            </c:ext>
          </c:extLst>
        </c:ser>
        <c:ser>
          <c:idx val="3"/>
          <c:order val="3"/>
          <c:tx>
            <c:strRef>
              <c:f>Sheet6!$M$1</c:f>
              <c:strCache>
                <c:ptCount val="1"/>
                <c:pt idx="0">
                  <c:v>CL</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Sheet6!$I$2:$I$32</c:f>
              <c:numCache>
                <c:formatCode>General</c:formatCod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numCache>
            </c:numRef>
          </c:cat>
          <c:val>
            <c:numRef>
              <c:f>Sheet6!$M$2:$M$32</c:f>
              <c:numCache>
                <c:formatCode>General</c:formatCode>
                <c:ptCount val="31"/>
                <c:pt idx="0">
                  <c:v>3.5324520794987636E-4</c:v>
                </c:pt>
                <c:pt idx="1">
                  <c:v>3.5324520794987636E-4</c:v>
                </c:pt>
                <c:pt idx="2">
                  <c:v>3.5324520794987636E-4</c:v>
                </c:pt>
                <c:pt idx="3">
                  <c:v>3.5324520794987636E-4</c:v>
                </c:pt>
                <c:pt idx="4">
                  <c:v>3.5324520794987636E-4</c:v>
                </c:pt>
                <c:pt idx="5">
                  <c:v>3.5324520794987636E-4</c:v>
                </c:pt>
                <c:pt idx="6">
                  <c:v>3.5324520794987636E-4</c:v>
                </c:pt>
                <c:pt idx="7">
                  <c:v>3.5324520794987636E-4</c:v>
                </c:pt>
                <c:pt idx="8">
                  <c:v>3.5324520794987636E-4</c:v>
                </c:pt>
                <c:pt idx="9">
                  <c:v>3.5324520794987636E-4</c:v>
                </c:pt>
                <c:pt idx="10">
                  <c:v>3.5324520794987636E-4</c:v>
                </c:pt>
                <c:pt idx="11">
                  <c:v>3.5324520794987636E-4</c:v>
                </c:pt>
                <c:pt idx="12">
                  <c:v>3.5324520794987636E-4</c:v>
                </c:pt>
                <c:pt idx="13">
                  <c:v>3.5324520794987636E-4</c:v>
                </c:pt>
                <c:pt idx="14">
                  <c:v>3.5324520794987636E-4</c:v>
                </c:pt>
                <c:pt idx="15">
                  <c:v>3.5324520794987636E-4</c:v>
                </c:pt>
                <c:pt idx="16">
                  <c:v>3.5324520794987636E-4</c:v>
                </c:pt>
                <c:pt idx="17">
                  <c:v>3.5324520794987636E-4</c:v>
                </c:pt>
                <c:pt idx="18">
                  <c:v>3.5324520794987636E-4</c:v>
                </c:pt>
                <c:pt idx="19">
                  <c:v>3.5324520794987636E-4</c:v>
                </c:pt>
                <c:pt idx="20">
                  <c:v>3.5324520794987636E-4</c:v>
                </c:pt>
                <c:pt idx="21">
                  <c:v>3.5324520794987636E-4</c:v>
                </c:pt>
                <c:pt idx="22">
                  <c:v>3.5324520794987636E-4</c:v>
                </c:pt>
                <c:pt idx="23">
                  <c:v>3.5324520794987636E-4</c:v>
                </c:pt>
                <c:pt idx="24">
                  <c:v>3.5324520794987636E-4</c:v>
                </c:pt>
                <c:pt idx="25">
                  <c:v>3.5324520794987636E-4</c:v>
                </c:pt>
                <c:pt idx="26">
                  <c:v>3.5324520794987636E-4</c:v>
                </c:pt>
                <c:pt idx="27">
                  <c:v>3.5324520794987636E-4</c:v>
                </c:pt>
                <c:pt idx="28">
                  <c:v>3.5324520794987636E-4</c:v>
                </c:pt>
                <c:pt idx="29">
                  <c:v>3.5324520794987636E-4</c:v>
                </c:pt>
                <c:pt idx="30">
                  <c:v>3.5324520794987636E-4</c:v>
                </c:pt>
              </c:numCache>
            </c:numRef>
          </c:val>
          <c:smooth val="0"/>
          <c:extLst>
            <c:ext xmlns:c16="http://schemas.microsoft.com/office/drawing/2014/chart" uri="{C3380CC4-5D6E-409C-BE32-E72D297353CC}">
              <c16:uniqueId val="{00000003-C38B-4939-882E-E3C1C093D92B}"/>
            </c:ext>
          </c:extLst>
        </c:ser>
        <c:dLbls>
          <c:showLegendKey val="0"/>
          <c:showVal val="0"/>
          <c:showCatName val="0"/>
          <c:showSerName val="0"/>
          <c:showPercent val="0"/>
          <c:showBubbleSize val="0"/>
        </c:dLbls>
        <c:marker val="1"/>
        <c:smooth val="0"/>
        <c:axId val="552080776"/>
        <c:axId val="552088336"/>
      </c:lineChart>
      <c:catAx>
        <c:axId val="552080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2088336"/>
        <c:crosses val="autoZero"/>
        <c:auto val="1"/>
        <c:lblAlgn val="ctr"/>
        <c:lblOffset val="100"/>
        <c:noMultiLvlLbl val="0"/>
      </c:catAx>
      <c:valAx>
        <c:axId val="552088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20807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gradFill>
        <a:gsLst>
          <a:gs pos="100000">
            <a:schemeClr val="dk1">
              <a:lumMod val="95000"/>
              <a:lumOff val="5000"/>
            </a:schemeClr>
          </a:gs>
          <a:gs pos="0">
            <a:schemeClr val="dk1">
              <a:lumMod val="75000"/>
              <a:lumOff val="25000"/>
            </a:schemeClr>
          </a:gs>
        </a:gsLst>
        <a:path path="circle">
          <a:fillToRect l="50000" t="50000" r="50000" b="50000"/>
        </a:path>
      </a:gradFill>
      <a:ln w="9525">
        <a:solidFill>
          <a:schemeClr val="dk1">
            <a:lumMod val="75000"/>
            <a:lumOff val="25000"/>
          </a:schemeClr>
        </a:solidFill>
      </a:ln>
    </cs:spPr>
  </cs:downBar>
  <cs:dropLine>
    <cs:lnRef idx="0"/>
    <cs:fillRef idx="0"/>
    <cs:effectRef idx="0"/>
    <cs:fontRef idx="minor">
      <a:schemeClr val="tx1"/>
    </cs:fontRef>
    <cs:spPr>
      <a:ln w="9525" cap="flat" cmpd="sng" algn="ctr">
        <a:solidFill>
          <a:schemeClr val="lt1"/>
        </a:solidFill>
        <a:round/>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cap="flat" cmpd="sng" algn="ctr">
        <a:solidFill>
          <a:schemeClr val="lt1"/>
        </a:solidFill>
        <a:round/>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gradFill>
        <a:gsLst>
          <a:gs pos="100000">
            <a:schemeClr val="lt1">
              <a:lumMod val="85000"/>
            </a:schemeClr>
          </a:gs>
          <a:gs pos="0">
            <a:schemeClr val="lt1"/>
          </a:gs>
        </a:gsLst>
        <a:path path="circle">
          <a:fillToRect l="50000" t="50000" r="50000" b="50000"/>
        </a:path>
      </a:gradFill>
      <a:ln w="9525" cap="flat" cmpd="sng" algn="ctr">
        <a:solidFill>
          <a:schemeClr val="lt1"/>
        </a:solidFill>
        <a:round/>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8825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hyperlink" Target="https://docs.google.com/spreadsheets/d/1MEyFsjmnuYjjK-iPjxRTDSYchHMqzTf7/edit?usp=sharing&amp;ouid=105181322888436556057&amp;rtpof=true&amp;sd=true" TargetMode="External"/><Relationship Id="rId4" Type="http://schemas.openxmlformats.org/officeDocument/2006/relationships/image" Target="../media/image7.gif"/></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9418320" y="-2377440"/>
            <a:ext cx="5669280" cy="5669280"/>
          </a:xfrm>
          <a:prstGeom prst="ellipse">
            <a:avLst/>
          </a:prstGeom>
          <a:solidFill>
            <a:srgbClr val="1E2761">
              <a:alpha val="60000"/>
            </a:srgbClr>
          </a:solidFill>
          <a:ln/>
        </p:spPr>
      </p:sp>
      <p:sp>
        <p:nvSpPr>
          <p:cNvPr id="3" name="Shape 1"/>
          <p:cNvSpPr/>
          <p:nvPr/>
        </p:nvSpPr>
        <p:spPr>
          <a:xfrm>
            <a:off x="10607040" y="4206240"/>
            <a:ext cx="3291840" cy="3291840"/>
          </a:xfrm>
          <a:prstGeom prst="ellipse">
            <a:avLst/>
          </a:prstGeom>
          <a:solidFill>
            <a:srgbClr val="1C7293">
              <a:alpha val="45000"/>
            </a:srgbClr>
          </a:solidFill>
          <a:ln/>
        </p:spPr>
      </p:sp>
      <p:sp>
        <p:nvSpPr>
          <p:cNvPr id="4" name="Text 2"/>
          <p:cNvSpPr/>
          <p:nvPr/>
        </p:nvSpPr>
        <p:spPr>
          <a:xfrm>
            <a:off x="731520" y="685800"/>
            <a:ext cx="10515600" cy="365760"/>
          </a:xfrm>
          <a:prstGeom prst="rect">
            <a:avLst/>
          </a:prstGeom>
          <a:noFill/>
          <a:ln/>
        </p:spPr>
        <p:txBody>
          <a:bodyPr wrap="square" lIns="0" tIns="0" rIns="0" bIns="0" rtlCol="0" anchor="ctr"/>
          <a:lstStyle/>
          <a:p>
            <a:pPr marL="0" indent="0">
              <a:buNone/>
            </a:pPr>
            <a:r>
              <a:rPr lang="en-US" sz="1300" b="1" kern="0" spc="100" dirty="0">
                <a:solidFill>
                  <a:srgbClr val="CADCFC"/>
                </a:solidFill>
                <a:latin typeface="Calibri" pitchFamily="34" charset="0"/>
                <a:ea typeface="Calibri" pitchFamily="34" charset="-122"/>
                <a:cs typeface="Calibri" pitchFamily="34" charset="-120"/>
              </a:rPr>
              <a:t>TOTAL QUALITY MANAGEMENT &amp; SIX SIGMA  ·  FORTUNE INSTITUTE OF INTERNATIONAL BUSINESS</a:t>
            </a:r>
            <a:endParaRPr lang="en-US" sz="1300" dirty="0"/>
          </a:p>
        </p:txBody>
      </p:sp>
      <p:sp>
        <p:nvSpPr>
          <p:cNvPr id="5" name="Text 3"/>
          <p:cNvSpPr/>
          <p:nvPr/>
        </p:nvSpPr>
        <p:spPr>
          <a:xfrm>
            <a:off x="731520" y="1080285"/>
            <a:ext cx="10178472" cy="3060897"/>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Reducing Rejections and Improving quality In SKH Metals Pvt Ltd by Implementing  </a:t>
            </a:r>
            <a:br>
              <a:rPr lang="en-US" sz="4000" b="1" dirty="0">
                <a:solidFill>
                  <a:srgbClr val="FFFFFF"/>
                </a:solidFill>
                <a:latin typeface="Cambria" pitchFamily="34" charset="0"/>
                <a:ea typeface="Cambria" pitchFamily="34" charset="-122"/>
                <a:cs typeface="Cambria" pitchFamily="34" charset="-120"/>
              </a:rPr>
            </a:br>
            <a:r>
              <a:rPr lang="en-US" sz="4000" b="1" dirty="0">
                <a:solidFill>
                  <a:srgbClr val="FFFFFF"/>
                </a:solidFill>
                <a:latin typeface="Cambria" pitchFamily="34" charset="0"/>
                <a:ea typeface="Cambria" pitchFamily="34" charset="-122"/>
                <a:cs typeface="Cambria" pitchFamily="34" charset="-120"/>
              </a:rPr>
              <a:t>DMAIC Six Sigma</a:t>
            </a:r>
            <a:endParaRPr lang="en-US" sz="4000" dirty="0"/>
          </a:p>
        </p:txBody>
      </p:sp>
      <p:sp>
        <p:nvSpPr>
          <p:cNvPr id="6" name="Text 4"/>
          <p:cNvSpPr/>
          <p:nvPr/>
        </p:nvSpPr>
        <p:spPr>
          <a:xfrm>
            <a:off x="731520" y="4098464"/>
            <a:ext cx="10607040" cy="548640"/>
          </a:xfrm>
          <a:prstGeom prst="rect">
            <a:avLst/>
          </a:prstGeom>
          <a:noFill/>
          <a:ln/>
        </p:spPr>
        <p:txBody>
          <a:bodyPr wrap="square" lIns="0" tIns="0" rIns="0" bIns="0" rtlCol="0" anchor="ctr"/>
          <a:lstStyle/>
          <a:p>
            <a:pPr marL="0" indent="0">
              <a:buNone/>
            </a:pPr>
            <a:r>
              <a:rPr lang="en-US" sz="2100" b="1" dirty="0">
                <a:solidFill>
                  <a:srgbClr val="CADCFC"/>
                </a:solidFill>
                <a:latin typeface="Cambria" pitchFamily="34" charset="0"/>
                <a:ea typeface="Cambria" pitchFamily="34" charset="-122"/>
                <a:cs typeface="Cambria" pitchFamily="34" charset="-120"/>
              </a:rPr>
              <a:t>A Six Sigma Study of the Press-Forming Process</a:t>
            </a:r>
            <a:endParaRPr lang="en-US" sz="2100" dirty="0"/>
          </a:p>
        </p:txBody>
      </p:sp>
      <p:sp>
        <p:nvSpPr>
          <p:cNvPr id="7" name="Text 5"/>
          <p:cNvSpPr/>
          <p:nvPr/>
        </p:nvSpPr>
        <p:spPr>
          <a:xfrm>
            <a:off x="731520" y="4615872"/>
            <a:ext cx="9875520" cy="365760"/>
          </a:xfrm>
          <a:prstGeom prst="rect">
            <a:avLst/>
          </a:prstGeom>
          <a:noFill/>
          <a:ln/>
        </p:spPr>
        <p:txBody>
          <a:bodyPr wrap="square" lIns="0" tIns="0" rIns="0" bIns="0" rtlCol="0" anchor="ctr"/>
          <a:lstStyle/>
          <a:p>
            <a:pPr marL="0" indent="0">
              <a:buNone/>
            </a:pPr>
            <a:r>
              <a:rPr lang="en-US" sz="1400" i="1" dirty="0">
                <a:solidFill>
                  <a:srgbClr val="9FB3E8"/>
                </a:solidFill>
                <a:latin typeface="Calibri" pitchFamily="34" charset="0"/>
                <a:ea typeface="Calibri" pitchFamily="34" charset="-122"/>
                <a:cs typeface="Calibri" pitchFamily="34" charset="-120"/>
              </a:rPr>
              <a:t>SKH Metals Ltd., Kharkhoda, Haryana  |  Tier-1 Sheet-Metal Supplier to Maruti Suzuki India Ltd.</a:t>
            </a:r>
            <a:endParaRPr lang="en-US" sz="1400" dirty="0"/>
          </a:p>
        </p:txBody>
      </p:sp>
      <p:sp>
        <p:nvSpPr>
          <p:cNvPr id="8" name="Shape 6"/>
          <p:cNvSpPr/>
          <p:nvPr/>
        </p:nvSpPr>
        <p:spPr>
          <a:xfrm>
            <a:off x="731520" y="5093392"/>
            <a:ext cx="5120640" cy="0"/>
          </a:xfrm>
          <a:prstGeom prst="line">
            <a:avLst/>
          </a:prstGeom>
          <a:noFill/>
          <a:ln w="19050">
            <a:solidFill>
              <a:srgbClr val="1C7293"/>
            </a:solidFill>
            <a:prstDash val="solid"/>
          </a:ln>
        </p:spPr>
        <p:txBody>
          <a:bodyPr/>
          <a:lstStyle/>
          <a:p>
            <a:endParaRPr lang="en-US" dirty="0"/>
          </a:p>
        </p:txBody>
      </p:sp>
      <p:sp>
        <p:nvSpPr>
          <p:cNvPr id="9" name="Text 7"/>
          <p:cNvSpPr/>
          <p:nvPr/>
        </p:nvSpPr>
        <p:spPr>
          <a:xfrm>
            <a:off x="731520" y="5168235"/>
            <a:ext cx="960120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Presented by </a:t>
            </a:r>
            <a:r>
              <a:rPr lang="en-US" sz="1500" b="1" dirty="0">
                <a:solidFill>
                  <a:srgbClr val="FFFFFF"/>
                </a:solidFill>
                <a:latin typeface="Calibri" pitchFamily="34" charset="0"/>
                <a:ea typeface="Calibri" pitchFamily="34" charset="-122"/>
                <a:cs typeface="Calibri" pitchFamily="34" charset="-120"/>
              </a:rPr>
              <a:t>Anuj Kaushik  </a:t>
            </a:r>
            <a:endParaRPr lang="en-US" sz="1500" b="1" dirty="0"/>
          </a:p>
        </p:txBody>
      </p:sp>
      <p:sp>
        <p:nvSpPr>
          <p:cNvPr id="10" name="Text 8"/>
          <p:cNvSpPr/>
          <p:nvPr/>
        </p:nvSpPr>
        <p:spPr>
          <a:xfrm>
            <a:off x="731520" y="5554403"/>
            <a:ext cx="9601200" cy="320040"/>
          </a:xfrm>
          <a:prstGeom prst="rect">
            <a:avLst/>
          </a:prstGeom>
          <a:noFill/>
          <a:ln/>
        </p:spPr>
        <p:txBody>
          <a:bodyPr wrap="square" lIns="0" tIns="0" rIns="0" bIns="0" rtlCol="0" anchor="ctr"/>
          <a:lstStyle/>
          <a:p>
            <a:pPr marL="0" indent="0">
              <a:buNone/>
            </a:pPr>
            <a:r>
              <a:rPr lang="en-US" sz="1300" dirty="0">
                <a:solidFill>
                  <a:srgbClr val="9FB3E8"/>
                </a:solidFill>
                <a:latin typeface="Calibri" pitchFamily="34" charset="0"/>
                <a:ea typeface="Calibri" pitchFamily="34" charset="-122"/>
                <a:cs typeface="Calibri" pitchFamily="34" charset="-120"/>
              </a:rPr>
              <a:t>Term IV  ·  Batch 2025-27  ·  Faculty: Dr Akansha Jain</a:t>
            </a:r>
            <a:endParaRPr lang="en-US" sz="1300" dirty="0"/>
          </a:p>
        </p:txBody>
      </p:sp>
      <p:pic>
        <p:nvPicPr>
          <p:cNvPr id="13" name="Picture 12">
            <a:extLst>
              <a:ext uri="{FF2B5EF4-FFF2-40B4-BE49-F238E27FC236}">
                <a16:creationId xmlns:a16="http://schemas.microsoft.com/office/drawing/2014/main" id="{D5488B4C-CD2E-B2F7-58C5-349589AEDC9A}"/>
              </a:ext>
            </a:extLst>
          </p:cNvPr>
          <p:cNvPicPr>
            <a:picLocks noChangeAspect="1"/>
          </p:cNvPicPr>
          <p:nvPr/>
        </p:nvPicPr>
        <p:blipFill>
          <a:blip r:embed="rId3"/>
          <a:stretch>
            <a:fillRect/>
          </a:stretch>
        </p:blipFill>
        <p:spPr>
          <a:xfrm>
            <a:off x="9702403" y="4402168"/>
            <a:ext cx="2103120" cy="2103120"/>
          </a:xfrm>
          <a:prstGeom prst="rect">
            <a:avLst/>
          </a:prstGeom>
          <a:ln>
            <a:solidFill>
              <a:schemeClr val="tx2"/>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365760"/>
            <a:ext cx="10424160" cy="5943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27-Defect Story, In Four Numbers</a:t>
            </a:r>
            <a:endParaRPr lang="en-US" sz="3000" dirty="0"/>
          </a:p>
        </p:txBody>
      </p:sp>
      <p:sp>
        <p:nvSpPr>
          <p:cNvPr id="4" name="Shape 2"/>
          <p:cNvSpPr/>
          <p:nvPr/>
        </p:nvSpPr>
        <p:spPr>
          <a:xfrm>
            <a:off x="548640" y="1234440"/>
            <a:ext cx="2514600" cy="1508760"/>
          </a:xfrm>
          <a:prstGeom prst="roundRect">
            <a:avLst>
              <a:gd name="adj" fmla="val 4848"/>
            </a:avLst>
          </a:prstGeom>
          <a:solidFill>
            <a:srgbClr val="F3F6FC"/>
          </a:solidFill>
          <a:ln w="12700">
            <a:solidFill>
              <a:srgbClr val="DCE3F0"/>
            </a:solidFill>
            <a:prstDash val="solid"/>
          </a:ln>
        </p:spPr>
      </p:sp>
      <p:sp>
        <p:nvSpPr>
          <p:cNvPr id="5" name="Text 3"/>
          <p:cNvSpPr/>
          <p:nvPr/>
        </p:nvSpPr>
        <p:spPr>
          <a:xfrm>
            <a:off x="548640" y="1399032"/>
            <a:ext cx="2514600" cy="594360"/>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rPr>
              <a:t>1,721,184</a:t>
            </a:r>
            <a:endParaRPr lang="en-US" sz="3000" dirty="0"/>
          </a:p>
        </p:txBody>
      </p:sp>
      <p:sp>
        <p:nvSpPr>
          <p:cNvPr id="6" name="Text 4"/>
          <p:cNvSpPr/>
          <p:nvPr/>
        </p:nvSpPr>
        <p:spPr>
          <a:xfrm>
            <a:off x="548640" y="2039112"/>
            <a:ext cx="2514600" cy="274320"/>
          </a:xfrm>
          <a:prstGeom prst="rect">
            <a:avLst/>
          </a:prstGeom>
          <a:noFill/>
          <a:ln/>
        </p:spPr>
        <p:txBody>
          <a:bodyPr wrap="square" lIns="0" tIns="0" rIns="0" bIns="0" rtlCol="0" anchor="ctr"/>
          <a:lstStyle/>
          <a:p>
            <a:pPr marL="0" indent="0" algn="ctr">
              <a:buNone/>
            </a:pPr>
            <a:r>
              <a:rPr lang="en-US" sz="1250" b="1" dirty="0">
                <a:solidFill>
                  <a:srgbClr val="1F2430"/>
                </a:solidFill>
                <a:latin typeface="Calibri" pitchFamily="34" charset="0"/>
                <a:ea typeface="Calibri" pitchFamily="34" charset="-122"/>
                <a:cs typeface="Calibri" pitchFamily="34" charset="-120"/>
              </a:rPr>
              <a:t>Units Inspected</a:t>
            </a:r>
            <a:endParaRPr lang="en-US" sz="1250" dirty="0"/>
          </a:p>
        </p:txBody>
      </p:sp>
      <p:sp>
        <p:nvSpPr>
          <p:cNvPr id="7" name="Text 5"/>
          <p:cNvSpPr/>
          <p:nvPr/>
        </p:nvSpPr>
        <p:spPr>
          <a:xfrm>
            <a:off x="548640" y="2304288"/>
            <a:ext cx="2514600" cy="274320"/>
          </a:xfrm>
          <a:prstGeom prst="rect">
            <a:avLst/>
          </a:prstGeom>
          <a:noFill/>
          <a:ln/>
        </p:spPr>
        <p:txBody>
          <a:bodyPr wrap="square" lIns="0" tIns="0" rIns="0" bIns="0" rtlCol="0" anchor="ctr"/>
          <a:lstStyle/>
          <a:p>
            <a:pPr marL="0" indent="0" algn="ctr">
              <a:buNone/>
            </a:pPr>
            <a:r>
              <a:rPr lang="en-US" sz="1050" dirty="0">
                <a:solidFill>
                  <a:srgbClr val="5B6472"/>
                </a:solidFill>
                <a:latin typeface="Calibri" pitchFamily="34" charset="0"/>
                <a:ea typeface="Calibri" pitchFamily="34" charset="-122"/>
                <a:cs typeface="Calibri" pitchFamily="34" charset="-120"/>
              </a:rPr>
              <a:t>Days 1–31 baseline</a:t>
            </a:r>
            <a:endParaRPr lang="en-US" sz="1050" dirty="0"/>
          </a:p>
        </p:txBody>
      </p:sp>
      <p:sp>
        <p:nvSpPr>
          <p:cNvPr id="12" name="Shape 10"/>
          <p:cNvSpPr/>
          <p:nvPr/>
        </p:nvSpPr>
        <p:spPr>
          <a:xfrm>
            <a:off x="3542145" y="1242014"/>
            <a:ext cx="2514600" cy="1508760"/>
          </a:xfrm>
          <a:prstGeom prst="roundRect">
            <a:avLst>
              <a:gd name="adj" fmla="val 4848"/>
            </a:avLst>
          </a:prstGeom>
          <a:solidFill>
            <a:srgbClr val="F3F6FC"/>
          </a:solidFill>
          <a:ln w="12700">
            <a:solidFill>
              <a:srgbClr val="DCE3F0"/>
            </a:solidFill>
            <a:prstDash val="solid"/>
          </a:ln>
        </p:spPr>
      </p:sp>
      <p:sp>
        <p:nvSpPr>
          <p:cNvPr id="13" name="Text 11"/>
          <p:cNvSpPr/>
          <p:nvPr/>
        </p:nvSpPr>
        <p:spPr>
          <a:xfrm>
            <a:off x="3515775" y="1444752"/>
            <a:ext cx="2514600" cy="594360"/>
          </a:xfrm>
          <a:prstGeom prst="rect">
            <a:avLst/>
          </a:prstGeom>
          <a:noFill/>
          <a:ln/>
        </p:spPr>
        <p:txBody>
          <a:bodyPr wrap="square" lIns="0" tIns="0" rIns="0" bIns="0" rtlCol="0" anchor="ctr"/>
          <a:lstStyle/>
          <a:p>
            <a:pPr marL="0" indent="0" algn="ctr">
              <a:buNone/>
            </a:pPr>
            <a:r>
              <a:rPr lang="en-US" sz="3000" b="1" dirty="0">
                <a:solidFill>
                  <a:srgbClr val="1C7293"/>
                </a:solidFill>
                <a:latin typeface="Cambria" pitchFamily="34" charset="0"/>
                <a:ea typeface="Cambria" pitchFamily="34" charset="-122"/>
              </a:rPr>
              <a:t>2785</a:t>
            </a:r>
            <a:endParaRPr lang="en-US" sz="3000" dirty="0"/>
          </a:p>
        </p:txBody>
      </p:sp>
      <p:sp>
        <p:nvSpPr>
          <p:cNvPr id="15" name="Text 13"/>
          <p:cNvSpPr/>
          <p:nvPr/>
        </p:nvSpPr>
        <p:spPr>
          <a:xfrm>
            <a:off x="6035040" y="2304288"/>
            <a:ext cx="2514600" cy="274320"/>
          </a:xfrm>
          <a:prstGeom prst="rect">
            <a:avLst/>
          </a:prstGeom>
          <a:noFill/>
          <a:ln/>
        </p:spPr>
        <p:txBody>
          <a:bodyPr wrap="square" lIns="0" tIns="0" rIns="0" bIns="0" rtlCol="0" anchor="ctr"/>
          <a:lstStyle/>
          <a:p>
            <a:pPr marL="0" indent="0" algn="ctr">
              <a:buNone/>
            </a:pPr>
            <a:endParaRPr lang="en-US" sz="1050" dirty="0"/>
          </a:p>
        </p:txBody>
      </p:sp>
      <p:sp>
        <p:nvSpPr>
          <p:cNvPr id="16" name="Shape 14"/>
          <p:cNvSpPr/>
          <p:nvPr/>
        </p:nvSpPr>
        <p:spPr>
          <a:xfrm>
            <a:off x="6548490" y="1234440"/>
            <a:ext cx="2514600" cy="1508760"/>
          </a:xfrm>
          <a:prstGeom prst="roundRect">
            <a:avLst>
              <a:gd name="adj" fmla="val 4848"/>
            </a:avLst>
          </a:prstGeom>
          <a:solidFill>
            <a:srgbClr val="F3F6FC"/>
          </a:solidFill>
          <a:ln w="12700">
            <a:solidFill>
              <a:srgbClr val="DCE3F0"/>
            </a:solidFill>
            <a:prstDash val="solid"/>
          </a:ln>
        </p:spPr>
        <p:txBody>
          <a:bodyPr/>
          <a:lstStyle/>
          <a:p>
            <a:endParaRPr lang="en-US" dirty="0"/>
          </a:p>
        </p:txBody>
      </p:sp>
      <p:sp>
        <p:nvSpPr>
          <p:cNvPr id="17" name="Text 15"/>
          <p:cNvSpPr/>
          <p:nvPr/>
        </p:nvSpPr>
        <p:spPr>
          <a:xfrm>
            <a:off x="6522120" y="1479286"/>
            <a:ext cx="2514600" cy="594360"/>
          </a:xfrm>
          <a:prstGeom prst="rect">
            <a:avLst/>
          </a:prstGeom>
          <a:noFill/>
          <a:ln/>
        </p:spPr>
        <p:txBody>
          <a:bodyPr wrap="square" lIns="0" tIns="0" rIns="0" bIns="0" rtlCol="0" anchor="ctr"/>
          <a:lstStyle/>
          <a:p>
            <a:pPr algn="ctr"/>
            <a:r>
              <a:rPr lang="en-US" sz="3000" b="1" dirty="0">
                <a:solidFill>
                  <a:srgbClr val="1C7293"/>
                </a:solidFill>
                <a:latin typeface="Cambria" pitchFamily="34" charset="0"/>
                <a:ea typeface="Cambria" pitchFamily="34" charset="-122"/>
                <a:cs typeface="Cambria" pitchFamily="34" charset="-120"/>
              </a:rPr>
              <a:t>4.5σ</a:t>
            </a:r>
            <a:endParaRPr lang="en-US" sz="3000" dirty="0"/>
          </a:p>
        </p:txBody>
      </p:sp>
      <p:sp>
        <p:nvSpPr>
          <p:cNvPr id="18" name="Text 16"/>
          <p:cNvSpPr/>
          <p:nvPr/>
        </p:nvSpPr>
        <p:spPr>
          <a:xfrm>
            <a:off x="3507255" y="2154382"/>
            <a:ext cx="2514600" cy="274320"/>
          </a:xfrm>
          <a:prstGeom prst="rect">
            <a:avLst/>
          </a:prstGeom>
          <a:noFill/>
          <a:ln/>
        </p:spPr>
        <p:txBody>
          <a:bodyPr wrap="square" lIns="0" tIns="0" rIns="0" bIns="0" rtlCol="0" anchor="ctr"/>
          <a:lstStyle/>
          <a:p>
            <a:pPr marL="0" indent="0" algn="ctr">
              <a:buNone/>
            </a:pPr>
            <a:r>
              <a:rPr lang="en-US" sz="1250" b="1" dirty="0">
                <a:solidFill>
                  <a:srgbClr val="1F2430"/>
                </a:solidFill>
                <a:latin typeface="Calibri" pitchFamily="34" charset="0"/>
                <a:ea typeface="Calibri" pitchFamily="34" charset="-122"/>
                <a:cs typeface="Calibri" pitchFamily="34" charset="-120"/>
              </a:rPr>
              <a:t>Total Rejections</a:t>
            </a:r>
            <a:br>
              <a:rPr lang="en-US" sz="1250" b="1" dirty="0">
                <a:solidFill>
                  <a:srgbClr val="1F2430"/>
                </a:solidFill>
                <a:latin typeface="Calibri" pitchFamily="34" charset="0"/>
                <a:ea typeface="Calibri" pitchFamily="34" charset="-122"/>
                <a:cs typeface="Calibri" pitchFamily="34" charset="-120"/>
              </a:rPr>
            </a:br>
            <a:r>
              <a:rPr lang="en-US" sz="1250" b="1" dirty="0">
                <a:solidFill>
                  <a:srgbClr val="1F2430"/>
                </a:solidFill>
                <a:latin typeface="Calibri" pitchFamily="34" charset="0"/>
                <a:ea typeface="Calibri" pitchFamily="34" charset="-122"/>
                <a:cs typeface="Calibri" pitchFamily="34" charset="-120"/>
              </a:rPr>
              <a:t>in 30 days</a:t>
            </a:r>
            <a:endParaRPr lang="en-US" sz="1250" dirty="0"/>
          </a:p>
        </p:txBody>
      </p:sp>
      <p:sp>
        <p:nvSpPr>
          <p:cNvPr id="19" name="Text 17"/>
          <p:cNvSpPr/>
          <p:nvPr/>
        </p:nvSpPr>
        <p:spPr>
          <a:xfrm>
            <a:off x="8778240" y="2304288"/>
            <a:ext cx="2514600" cy="274320"/>
          </a:xfrm>
          <a:prstGeom prst="rect">
            <a:avLst/>
          </a:prstGeom>
          <a:noFill/>
          <a:ln/>
        </p:spPr>
        <p:txBody>
          <a:bodyPr wrap="square" lIns="0" tIns="0" rIns="0" bIns="0" rtlCol="0" anchor="ctr"/>
          <a:lstStyle/>
          <a:p>
            <a:pPr marL="0" indent="0" algn="ctr">
              <a:buNone/>
            </a:pPr>
            <a:endParaRPr lang="en-US" sz="1050" dirty="0"/>
          </a:p>
        </p:txBody>
      </p:sp>
      <p:sp>
        <p:nvSpPr>
          <p:cNvPr id="20" name="Text 18"/>
          <p:cNvSpPr/>
          <p:nvPr/>
        </p:nvSpPr>
        <p:spPr>
          <a:xfrm>
            <a:off x="548640" y="3063240"/>
            <a:ext cx="11064240" cy="960120"/>
          </a:xfrm>
          <a:prstGeom prst="rect">
            <a:avLst/>
          </a:prstGeom>
          <a:noFill/>
          <a:ln/>
        </p:spPr>
        <p:txBody>
          <a:bodyPr wrap="square" lIns="0" tIns="0" rIns="0" bIns="0" rtlCol="0" anchor="t"/>
          <a:lstStyle/>
          <a:p>
            <a:pPr marL="0" indent="0">
              <a:lnSpc>
                <a:spcPct val="120000"/>
              </a:lnSpc>
              <a:buNone/>
            </a:pPr>
            <a:r>
              <a:rPr lang="en-US" sz="1450" dirty="0">
                <a:solidFill>
                  <a:srgbClr val="1F2430"/>
                </a:solidFill>
                <a:latin typeface="Calibri" pitchFamily="34" charset="0"/>
                <a:ea typeface="Calibri" pitchFamily="34" charset="-122"/>
                <a:cs typeface="Calibri" pitchFamily="34" charset="-120"/>
              </a:rPr>
              <a:t>SKH Metals' press-shop logs 27 defect types a month. Crack and Flange Short - the 2nd and 3rd largest categories are the only high-volume defects directly traceable to press-tooling and material root causes, so they anchor this DMAIC study. The 31-day baseline shows the process is statistically unstable; five prioritised root causes and five corrective actions point to a realistic reduction.</a:t>
            </a:r>
            <a:endParaRPr lang="en-US" sz="1450" dirty="0"/>
          </a:p>
        </p:txBody>
      </p:sp>
      <p:sp>
        <p:nvSpPr>
          <p:cNvPr id="21" name="Shape 19"/>
          <p:cNvSpPr/>
          <p:nvPr/>
        </p:nvSpPr>
        <p:spPr>
          <a:xfrm>
            <a:off x="548640" y="4251960"/>
            <a:ext cx="2139696" cy="1600200"/>
          </a:xfrm>
          <a:prstGeom prst="roundRect">
            <a:avLst>
              <a:gd name="adj" fmla="val 3429"/>
            </a:avLst>
          </a:prstGeom>
          <a:solidFill>
            <a:srgbClr val="1E2761"/>
          </a:solidFill>
          <a:ln/>
        </p:spPr>
      </p:sp>
      <p:sp>
        <p:nvSpPr>
          <p:cNvPr id="22" name="Text 20"/>
          <p:cNvSpPr/>
          <p:nvPr/>
        </p:nvSpPr>
        <p:spPr>
          <a:xfrm>
            <a:off x="658368" y="4343400"/>
            <a:ext cx="5486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a:t>
            </a:r>
            <a:endParaRPr lang="en-US" sz="2200" dirty="0"/>
          </a:p>
        </p:txBody>
      </p:sp>
      <p:sp>
        <p:nvSpPr>
          <p:cNvPr id="23" name="Text 21"/>
          <p:cNvSpPr/>
          <p:nvPr/>
        </p:nvSpPr>
        <p:spPr>
          <a:xfrm>
            <a:off x="658368" y="4818888"/>
            <a:ext cx="192024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Define</a:t>
            </a:r>
            <a:endParaRPr lang="en-US" sz="1400" dirty="0"/>
          </a:p>
        </p:txBody>
      </p:sp>
      <p:sp>
        <p:nvSpPr>
          <p:cNvPr id="24" name="Text 22"/>
          <p:cNvSpPr/>
          <p:nvPr/>
        </p:nvSpPr>
        <p:spPr>
          <a:xfrm>
            <a:off x="658368" y="5166360"/>
            <a:ext cx="1920240" cy="594360"/>
          </a:xfrm>
          <a:prstGeom prst="rect">
            <a:avLst/>
          </a:prstGeom>
          <a:noFill/>
          <a:ln/>
        </p:spPr>
        <p:txBody>
          <a:bodyPr wrap="square" lIns="0" tIns="0" rIns="0" bIns="0" rtlCol="0" anchor="ctr"/>
          <a:lstStyle/>
          <a:p>
            <a:pPr marL="0" indent="0">
              <a:lnSpc>
                <a:spcPct val="115000"/>
              </a:lnSpc>
              <a:buNone/>
            </a:pPr>
            <a:r>
              <a:rPr lang="en-US" sz="1100" dirty="0">
                <a:solidFill>
                  <a:srgbClr val="E4E9F5"/>
                </a:solidFill>
                <a:latin typeface="Calibri" pitchFamily="34" charset="0"/>
                <a:ea typeface="Calibri" pitchFamily="34" charset="-122"/>
                <a:cs typeface="Calibri" pitchFamily="34" charset="-120"/>
              </a:rPr>
              <a:t>Charter, SIPOC, CTQs</a:t>
            </a:r>
            <a:endParaRPr lang="en-US" sz="1100" dirty="0"/>
          </a:p>
        </p:txBody>
      </p:sp>
      <p:sp>
        <p:nvSpPr>
          <p:cNvPr id="25" name="Shape 23"/>
          <p:cNvSpPr/>
          <p:nvPr/>
        </p:nvSpPr>
        <p:spPr>
          <a:xfrm>
            <a:off x="2807208" y="4251960"/>
            <a:ext cx="2139696" cy="1600200"/>
          </a:xfrm>
          <a:prstGeom prst="roundRect">
            <a:avLst>
              <a:gd name="adj" fmla="val 3429"/>
            </a:avLst>
          </a:prstGeom>
          <a:solidFill>
            <a:srgbClr val="1C7293"/>
          </a:solidFill>
          <a:ln/>
        </p:spPr>
      </p:sp>
      <p:sp>
        <p:nvSpPr>
          <p:cNvPr id="26" name="Text 24"/>
          <p:cNvSpPr/>
          <p:nvPr/>
        </p:nvSpPr>
        <p:spPr>
          <a:xfrm>
            <a:off x="2916936" y="4343400"/>
            <a:ext cx="5486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a:t>
            </a:r>
            <a:endParaRPr lang="en-US" sz="2200" dirty="0"/>
          </a:p>
        </p:txBody>
      </p:sp>
      <p:sp>
        <p:nvSpPr>
          <p:cNvPr id="27" name="Text 25"/>
          <p:cNvSpPr/>
          <p:nvPr/>
        </p:nvSpPr>
        <p:spPr>
          <a:xfrm>
            <a:off x="2916936" y="4818888"/>
            <a:ext cx="192024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Measure</a:t>
            </a:r>
            <a:endParaRPr lang="en-US" sz="1400" dirty="0"/>
          </a:p>
        </p:txBody>
      </p:sp>
      <p:sp>
        <p:nvSpPr>
          <p:cNvPr id="28" name="Text 26"/>
          <p:cNvSpPr/>
          <p:nvPr/>
        </p:nvSpPr>
        <p:spPr>
          <a:xfrm>
            <a:off x="2916936" y="5166360"/>
            <a:ext cx="1920240" cy="594360"/>
          </a:xfrm>
          <a:prstGeom prst="rect">
            <a:avLst/>
          </a:prstGeom>
          <a:noFill/>
          <a:ln/>
        </p:spPr>
        <p:txBody>
          <a:bodyPr wrap="square" lIns="0" tIns="0" rIns="0" bIns="0" rtlCol="0" anchor="ctr"/>
          <a:lstStyle/>
          <a:p>
            <a:pPr marL="0" indent="0">
              <a:lnSpc>
                <a:spcPct val="115000"/>
              </a:lnSpc>
              <a:buNone/>
            </a:pPr>
            <a:r>
              <a:rPr lang="en-US" sz="1100" dirty="0">
                <a:solidFill>
                  <a:srgbClr val="E4E9F5"/>
                </a:solidFill>
                <a:latin typeface="Calibri" pitchFamily="34" charset="0"/>
                <a:ea typeface="Calibri" pitchFamily="34" charset="-122"/>
                <a:cs typeface="Calibri" pitchFamily="34" charset="-120"/>
              </a:rPr>
              <a:t>Baseline sigma &amp; p-chart</a:t>
            </a:r>
            <a:endParaRPr lang="en-US" sz="1100" dirty="0"/>
          </a:p>
        </p:txBody>
      </p:sp>
      <p:sp>
        <p:nvSpPr>
          <p:cNvPr id="29" name="Shape 27"/>
          <p:cNvSpPr/>
          <p:nvPr/>
        </p:nvSpPr>
        <p:spPr>
          <a:xfrm>
            <a:off x="5065776" y="4251960"/>
            <a:ext cx="2139696" cy="1600200"/>
          </a:xfrm>
          <a:prstGeom prst="roundRect">
            <a:avLst>
              <a:gd name="adj" fmla="val 3429"/>
            </a:avLst>
          </a:prstGeom>
          <a:solidFill>
            <a:srgbClr val="1E2761"/>
          </a:solidFill>
          <a:ln/>
        </p:spPr>
      </p:sp>
      <p:sp>
        <p:nvSpPr>
          <p:cNvPr id="30" name="Text 28"/>
          <p:cNvSpPr/>
          <p:nvPr/>
        </p:nvSpPr>
        <p:spPr>
          <a:xfrm>
            <a:off x="5175504" y="4343400"/>
            <a:ext cx="5486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31" name="Text 29"/>
          <p:cNvSpPr/>
          <p:nvPr/>
        </p:nvSpPr>
        <p:spPr>
          <a:xfrm>
            <a:off x="5175504" y="4818888"/>
            <a:ext cx="192024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Analyse</a:t>
            </a:r>
            <a:endParaRPr lang="en-US" sz="1400" dirty="0"/>
          </a:p>
        </p:txBody>
      </p:sp>
      <p:sp>
        <p:nvSpPr>
          <p:cNvPr id="32" name="Text 30"/>
          <p:cNvSpPr/>
          <p:nvPr/>
        </p:nvSpPr>
        <p:spPr>
          <a:xfrm>
            <a:off x="5175504" y="5166360"/>
            <a:ext cx="1920240" cy="594360"/>
          </a:xfrm>
          <a:prstGeom prst="rect">
            <a:avLst/>
          </a:prstGeom>
          <a:noFill/>
          <a:ln/>
        </p:spPr>
        <p:txBody>
          <a:bodyPr wrap="square" lIns="0" tIns="0" rIns="0" bIns="0" rtlCol="0" anchor="ctr"/>
          <a:lstStyle/>
          <a:p>
            <a:pPr marL="0" indent="0">
              <a:lnSpc>
                <a:spcPct val="115000"/>
              </a:lnSpc>
              <a:buNone/>
            </a:pPr>
            <a:r>
              <a:rPr lang="en-US" sz="1100" dirty="0">
                <a:solidFill>
                  <a:srgbClr val="E4E9F5"/>
                </a:solidFill>
                <a:latin typeface="Calibri" pitchFamily="34" charset="0"/>
                <a:ea typeface="Calibri" pitchFamily="34" charset="-122"/>
                <a:cs typeface="Calibri" pitchFamily="34" charset="-120"/>
              </a:rPr>
              <a:t>Fishbone + root-cause rank</a:t>
            </a:r>
            <a:endParaRPr lang="en-US" sz="1100" dirty="0"/>
          </a:p>
        </p:txBody>
      </p:sp>
      <p:sp>
        <p:nvSpPr>
          <p:cNvPr id="33" name="Shape 31"/>
          <p:cNvSpPr/>
          <p:nvPr/>
        </p:nvSpPr>
        <p:spPr>
          <a:xfrm>
            <a:off x="7324344" y="4251960"/>
            <a:ext cx="2139696" cy="1600200"/>
          </a:xfrm>
          <a:prstGeom prst="roundRect">
            <a:avLst>
              <a:gd name="adj" fmla="val 3429"/>
            </a:avLst>
          </a:prstGeom>
          <a:solidFill>
            <a:srgbClr val="1C7293"/>
          </a:solidFill>
          <a:ln/>
        </p:spPr>
      </p:sp>
      <p:sp>
        <p:nvSpPr>
          <p:cNvPr id="34" name="Text 32"/>
          <p:cNvSpPr/>
          <p:nvPr/>
        </p:nvSpPr>
        <p:spPr>
          <a:xfrm>
            <a:off x="7434072" y="4343400"/>
            <a:ext cx="5486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I</a:t>
            </a:r>
            <a:endParaRPr lang="en-US" sz="2200" dirty="0"/>
          </a:p>
        </p:txBody>
      </p:sp>
      <p:sp>
        <p:nvSpPr>
          <p:cNvPr id="35" name="Text 33"/>
          <p:cNvSpPr/>
          <p:nvPr/>
        </p:nvSpPr>
        <p:spPr>
          <a:xfrm>
            <a:off x="7434072" y="4818888"/>
            <a:ext cx="192024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Improve</a:t>
            </a:r>
            <a:endParaRPr lang="en-US" sz="1400" dirty="0"/>
          </a:p>
        </p:txBody>
      </p:sp>
      <p:sp>
        <p:nvSpPr>
          <p:cNvPr id="36" name="Text 34"/>
          <p:cNvSpPr/>
          <p:nvPr/>
        </p:nvSpPr>
        <p:spPr>
          <a:xfrm>
            <a:off x="7434072" y="5166360"/>
            <a:ext cx="1920240" cy="594360"/>
          </a:xfrm>
          <a:prstGeom prst="rect">
            <a:avLst/>
          </a:prstGeom>
          <a:noFill/>
          <a:ln/>
        </p:spPr>
        <p:txBody>
          <a:bodyPr wrap="square" lIns="0" tIns="0" rIns="0" bIns="0" rtlCol="0" anchor="ctr"/>
          <a:lstStyle/>
          <a:p>
            <a:pPr marL="0" indent="0">
              <a:lnSpc>
                <a:spcPct val="115000"/>
              </a:lnSpc>
              <a:buNone/>
            </a:pPr>
            <a:r>
              <a:rPr lang="en-US" sz="1100" dirty="0">
                <a:solidFill>
                  <a:srgbClr val="E4E9F5"/>
                </a:solidFill>
                <a:latin typeface="Calibri" pitchFamily="34" charset="0"/>
                <a:ea typeface="Calibri" pitchFamily="34" charset="-122"/>
                <a:cs typeface="Calibri" pitchFamily="34" charset="-120"/>
              </a:rPr>
              <a:t>Impact-Effort action plan</a:t>
            </a:r>
            <a:endParaRPr lang="en-US" sz="1100" dirty="0"/>
          </a:p>
        </p:txBody>
      </p:sp>
      <p:sp>
        <p:nvSpPr>
          <p:cNvPr id="37" name="Shape 35"/>
          <p:cNvSpPr/>
          <p:nvPr/>
        </p:nvSpPr>
        <p:spPr>
          <a:xfrm>
            <a:off x="9582912" y="4251960"/>
            <a:ext cx="2139696" cy="1600200"/>
          </a:xfrm>
          <a:prstGeom prst="roundRect">
            <a:avLst>
              <a:gd name="adj" fmla="val 3429"/>
            </a:avLst>
          </a:prstGeom>
          <a:solidFill>
            <a:srgbClr val="1E2761"/>
          </a:solidFill>
          <a:ln/>
        </p:spPr>
      </p:sp>
      <p:sp>
        <p:nvSpPr>
          <p:cNvPr id="38" name="Text 36"/>
          <p:cNvSpPr/>
          <p:nvPr/>
        </p:nvSpPr>
        <p:spPr>
          <a:xfrm>
            <a:off x="9692640" y="4343400"/>
            <a:ext cx="5486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39" name="Text 37"/>
          <p:cNvSpPr/>
          <p:nvPr/>
        </p:nvSpPr>
        <p:spPr>
          <a:xfrm>
            <a:off x="9692640" y="4818888"/>
            <a:ext cx="192024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Control</a:t>
            </a:r>
            <a:endParaRPr lang="en-US" sz="1400" dirty="0"/>
          </a:p>
        </p:txBody>
      </p:sp>
      <p:sp>
        <p:nvSpPr>
          <p:cNvPr id="40" name="Text 38"/>
          <p:cNvSpPr/>
          <p:nvPr/>
        </p:nvSpPr>
        <p:spPr>
          <a:xfrm>
            <a:off x="9692640" y="5166360"/>
            <a:ext cx="1920240" cy="594360"/>
          </a:xfrm>
          <a:prstGeom prst="rect">
            <a:avLst/>
          </a:prstGeom>
          <a:noFill/>
          <a:ln/>
        </p:spPr>
        <p:txBody>
          <a:bodyPr wrap="square" lIns="0" tIns="0" rIns="0" bIns="0" rtlCol="0" anchor="ctr"/>
          <a:lstStyle/>
          <a:p>
            <a:pPr marL="0" indent="0">
              <a:lnSpc>
                <a:spcPct val="115000"/>
              </a:lnSpc>
              <a:buNone/>
            </a:pPr>
            <a:r>
              <a:rPr lang="en-US" sz="1100" dirty="0">
                <a:solidFill>
                  <a:srgbClr val="E4E9F5"/>
                </a:solidFill>
                <a:latin typeface="Calibri" pitchFamily="34" charset="0"/>
                <a:ea typeface="Calibri" pitchFamily="34" charset="-122"/>
                <a:cs typeface="Calibri" pitchFamily="34" charset="-120"/>
              </a:rPr>
              <a:t>KPI dashboard &amp; plan</a:t>
            </a:r>
            <a:endParaRPr lang="en-US" sz="1100" dirty="0"/>
          </a:p>
        </p:txBody>
      </p:sp>
      <p:sp>
        <p:nvSpPr>
          <p:cNvPr id="41" name="Text 39"/>
          <p:cNvSpPr/>
          <p:nvPr/>
        </p:nvSpPr>
        <p:spPr>
          <a:xfrm>
            <a:off x="548640" y="6510528"/>
            <a:ext cx="5486400" cy="274320"/>
          </a:xfrm>
          <a:prstGeom prst="rect">
            <a:avLst/>
          </a:prstGeom>
          <a:noFill/>
          <a:ln/>
        </p:spPr>
        <p:txBody>
          <a:bodyPr wrap="square" lIns="0" tIns="0" rIns="0" bIns="0" rtlCol="0" anchor="ctr"/>
          <a:lstStyle/>
          <a:p>
            <a:pPr marL="0" indent="0">
              <a:buNone/>
            </a:pPr>
            <a:r>
              <a:rPr lang="en-US" sz="1000" dirty="0">
                <a:solidFill>
                  <a:srgbClr val="AAB2C0"/>
                </a:solidFill>
                <a:latin typeface="Calibri" pitchFamily="34" charset="0"/>
                <a:ea typeface="Calibri" pitchFamily="34" charset="-122"/>
                <a:cs typeface="Calibri" pitchFamily="34" charset="-120"/>
              </a:rPr>
              <a:t>SKH Metals — DMAIC Six Sigma Project</a:t>
            </a:r>
            <a:endParaRPr lang="en-US" sz="1000" dirty="0"/>
          </a:p>
        </p:txBody>
      </p:sp>
      <p:sp>
        <p:nvSpPr>
          <p:cNvPr id="42" name="Text 40"/>
          <p:cNvSpPr/>
          <p:nvPr/>
        </p:nvSpPr>
        <p:spPr>
          <a:xfrm>
            <a:off x="11612880" y="6510528"/>
            <a:ext cx="45720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2</a:t>
            </a:r>
            <a:endParaRPr lang="en-US" sz="1000" dirty="0"/>
          </a:p>
        </p:txBody>
      </p:sp>
      <p:sp>
        <p:nvSpPr>
          <p:cNvPr id="14" name="Text 12"/>
          <p:cNvSpPr/>
          <p:nvPr/>
        </p:nvSpPr>
        <p:spPr>
          <a:xfrm>
            <a:off x="6538745" y="2153412"/>
            <a:ext cx="2514600" cy="274320"/>
          </a:xfrm>
          <a:prstGeom prst="rect">
            <a:avLst/>
          </a:prstGeom>
          <a:noFill/>
          <a:ln/>
        </p:spPr>
        <p:txBody>
          <a:bodyPr wrap="square" lIns="0" tIns="0" rIns="0" bIns="0" rtlCol="0" anchor="ctr"/>
          <a:lstStyle/>
          <a:p>
            <a:pPr marL="0" indent="0" algn="ctr">
              <a:buNone/>
            </a:pPr>
            <a:r>
              <a:rPr lang="en-US" sz="1250" b="1" dirty="0">
                <a:solidFill>
                  <a:srgbClr val="1F2430"/>
                </a:solidFill>
                <a:latin typeface="Calibri" pitchFamily="34" charset="0"/>
                <a:ea typeface="Calibri" pitchFamily="34" charset="-122"/>
                <a:cs typeface="Calibri" pitchFamily="34" charset="-120"/>
              </a:rPr>
              <a:t>Baseline Sigma </a:t>
            </a:r>
            <a:br>
              <a:rPr lang="en-US" sz="1250" b="1" dirty="0">
                <a:solidFill>
                  <a:srgbClr val="1F2430"/>
                </a:solidFill>
                <a:latin typeface="Calibri" pitchFamily="34" charset="0"/>
                <a:ea typeface="Calibri" pitchFamily="34" charset="-122"/>
                <a:cs typeface="Calibri" pitchFamily="34" charset="-120"/>
              </a:rPr>
            </a:br>
            <a:r>
              <a:rPr lang="en-US" sz="1250" b="1" dirty="0">
                <a:solidFill>
                  <a:srgbClr val="1F2430"/>
                </a:solidFill>
                <a:latin typeface="Calibri" pitchFamily="34" charset="0"/>
                <a:ea typeface="Calibri" pitchFamily="34" charset="-122"/>
                <a:cs typeface="Calibri" pitchFamily="34" charset="-120"/>
              </a:rPr>
              <a:t>Level</a:t>
            </a:r>
            <a:endParaRPr lang="en-US" sz="1250" dirty="0"/>
          </a:p>
        </p:txBody>
      </p:sp>
      <p:sp>
        <p:nvSpPr>
          <p:cNvPr id="43" name="Shape 14">
            <a:extLst>
              <a:ext uri="{FF2B5EF4-FFF2-40B4-BE49-F238E27FC236}">
                <a16:creationId xmlns:a16="http://schemas.microsoft.com/office/drawing/2014/main" id="{06EFFC32-8791-79CA-1617-865E8DDDEFB1}"/>
              </a:ext>
            </a:extLst>
          </p:cNvPr>
          <p:cNvSpPr/>
          <p:nvPr/>
        </p:nvSpPr>
        <p:spPr>
          <a:xfrm>
            <a:off x="9541995" y="1271016"/>
            <a:ext cx="2337585" cy="1508760"/>
          </a:xfrm>
          <a:prstGeom prst="roundRect">
            <a:avLst>
              <a:gd name="adj" fmla="val 4848"/>
            </a:avLst>
          </a:prstGeom>
          <a:solidFill>
            <a:srgbClr val="F3F6FC"/>
          </a:solidFill>
          <a:ln w="12700">
            <a:solidFill>
              <a:srgbClr val="DCE3F0"/>
            </a:solidFill>
            <a:prstDash val="solid"/>
          </a:ln>
        </p:spPr>
        <p:txBody>
          <a:bodyPr/>
          <a:lstStyle/>
          <a:p>
            <a:endParaRPr lang="en-US" dirty="0"/>
          </a:p>
        </p:txBody>
      </p:sp>
      <p:sp>
        <p:nvSpPr>
          <p:cNvPr id="44" name="Text 15">
            <a:extLst>
              <a:ext uri="{FF2B5EF4-FFF2-40B4-BE49-F238E27FC236}">
                <a16:creationId xmlns:a16="http://schemas.microsoft.com/office/drawing/2014/main" id="{07825398-62C8-6CEC-7491-A923EB9E5C2C}"/>
              </a:ext>
            </a:extLst>
          </p:cNvPr>
          <p:cNvSpPr/>
          <p:nvPr/>
        </p:nvSpPr>
        <p:spPr>
          <a:xfrm>
            <a:off x="9582912" y="1452731"/>
            <a:ext cx="2514600" cy="594360"/>
          </a:xfrm>
          <a:prstGeom prst="rect">
            <a:avLst/>
          </a:prstGeom>
          <a:noFill/>
          <a:ln/>
        </p:spPr>
        <p:txBody>
          <a:bodyPr wrap="square" lIns="0" tIns="0" rIns="0" bIns="0" rtlCol="0" anchor="ctr"/>
          <a:lstStyle/>
          <a:p>
            <a:pPr algn="ctr"/>
            <a:r>
              <a:rPr lang="en-US" sz="3000" b="1" dirty="0">
                <a:solidFill>
                  <a:srgbClr val="1C7293"/>
                </a:solidFill>
                <a:latin typeface="Cambria" pitchFamily="34" charset="0"/>
                <a:ea typeface="Cambria" pitchFamily="34" charset="-122"/>
                <a:cs typeface="Cambria" pitchFamily="34" charset="-120"/>
              </a:rPr>
              <a:t>4.99σ</a:t>
            </a:r>
            <a:endParaRPr lang="en-US" sz="3000" dirty="0"/>
          </a:p>
        </p:txBody>
      </p:sp>
      <p:sp>
        <p:nvSpPr>
          <p:cNvPr id="45" name="Text 17">
            <a:extLst>
              <a:ext uri="{FF2B5EF4-FFF2-40B4-BE49-F238E27FC236}">
                <a16:creationId xmlns:a16="http://schemas.microsoft.com/office/drawing/2014/main" id="{081006ED-241A-038E-B111-D7FB4BC0630B}"/>
              </a:ext>
            </a:extLst>
          </p:cNvPr>
          <p:cNvSpPr/>
          <p:nvPr/>
        </p:nvSpPr>
        <p:spPr>
          <a:xfrm>
            <a:off x="8778240" y="2304288"/>
            <a:ext cx="2514600" cy="274320"/>
          </a:xfrm>
          <a:prstGeom prst="rect">
            <a:avLst/>
          </a:prstGeom>
          <a:noFill/>
          <a:ln/>
        </p:spPr>
        <p:txBody>
          <a:bodyPr wrap="square" lIns="0" tIns="0" rIns="0" bIns="0" rtlCol="0" anchor="ctr"/>
          <a:lstStyle/>
          <a:p>
            <a:pPr marL="0" indent="0" algn="ctr">
              <a:buNone/>
            </a:pPr>
            <a:endParaRPr lang="en-US" sz="1050" dirty="0"/>
          </a:p>
        </p:txBody>
      </p:sp>
      <p:sp>
        <p:nvSpPr>
          <p:cNvPr id="46" name="Text 12">
            <a:extLst>
              <a:ext uri="{FF2B5EF4-FFF2-40B4-BE49-F238E27FC236}">
                <a16:creationId xmlns:a16="http://schemas.microsoft.com/office/drawing/2014/main" id="{30FF8C9A-F7E1-08E2-78C9-834A244B8E99}"/>
              </a:ext>
            </a:extLst>
          </p:cNvPr>
          <p:cNvSpPr/>
          <p:nvPr/>
        </p:nvSpPr>
        <p:spPr>
          <a:xfrm>
            <a:off x="9581850" y="2121408"/>
            <a:ext cx="2514600" cy="274320"/>
          </a:xfrm>
          <a:prstGeom prst="rect">
            <a:avLst/>
          </a:prstGeom>
          <a:noFill/>
          <a:ln/>
        </p:spPr>
        <p:txBody>
          <a:bodyPr wrap="square" lIns="0" tIns="0" rIns="0" bIns="0" rtlCol="0" anchor="ctr"/>
          <a:lstStyle/>
          <a:p>
            <a:pPr marL="0" indent="0" algn="ctr">
              <a:buNone/>
            </a:pPr>
            <a:r>
              <a:rPr lang="en-US" sz="1250" b="1" dirty="0">
                <a:solidFill>
                  <a:srgbClr val="1F2430"/>
                </a:solidFill>
                <a:latin typeface="Calibri" pitchFamily="34" charset="0"/>
                <a:ea typeface="Calibri" pitchFamily="34" charset="-122"/>
                <a:cs typeface="Calibri" pitchFamily="34" charset="-120"/>
              </a:rPr>
              <a:t>Targeted Sigma </a:t>
            </a:r>
            <a:br>
              <a:rPr lang="en-US" sz="1250" b="1" dirty="0">
                <a:solidFill>
                  <a:srgbClr val="1F2430"/>
                </a:solidFill>
                <a:latin typeface="Calibri" pitchFamily="34" charset="0"/>
                <a:ea typeface="Calibri" pitchFamily="34" charset="-122"/>
                <a:cs typeface="Calibri" pitchFamily="34" charset="-120"/>
              </a:rPr>
            </a:br>
            <a:r>
              <a:rPr lang="en-US" sz="1250" b="1" dirty="0">
                <a:solidFill>
                  <a:srgbClr val="1F2430"/>
                </a:solidFill>
                <a:latin typeface="Calibri" pitchFamily="34" charset="0"/>
                <a:ea typeface="Calibri" pitchFamily="34" charset="-122"/>
                <a:cs typeface="Calibri" pitchFamily="34" charset="-120"/>
              </a:rPr>
              <a:t>Level</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128016"/>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PROCESS CONTEXT</a:t>
            </a:r>
            <a:endParaRPr lang="en-US" sz="1200" dirty="0"/>
          </a:p>
        </p:txBody>
      </p:sp>
      <p:sp>
        <p:nvSpPr>
          <p:cNvPr id="3" name="Text 1"/>
          <p:cNvSpPr/>
          <p:nvPr/>
        </p:nvSpPr>
        <p:spPr>
          <a:xfrm>
            <a:off x="548640" y="365760"/>
            <a:ext cx="10424160" cy="5943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SIPOC - Press-Forming Process</a:t>
            </a:r>
            <a:endParaRPr lang="en-US" sz="3000" dirty="0"/>
          </a:p>
        </p:txBody>
      </p:sp>
      <p:sp>
        <p:nvSpPr>
          <p:cNvPr id="4" name="Shape 2"/>
          <p:cNvSpPr/>
          <p:nvPr/>
        </p:nvSpPr>
        <p:spPr>
          <a:xfrm>
            <a:off x="548640" y="1371600"/>
            <a:ext cx="2139696" cy="502920"/>
          </a:xfrm>
          <a:prstGeom prst="roundRect">
            <a:avLst>
              <a:gd name="adj" fmla="val 9091"/>
            </a:avLst>
          </a:prstGeom>
          <a:solidFill>
            <a:srgbClr val="1E2761"/>
          </a:solidFill>
          <a:ln/>
        </p:spPr>
      </p:sp>
      <p:sp>
        <p:nvSpPr>
          <p:cNvPr id="5" name="Text 3"/>
          <p:cNvSpPr/>
          <p:nvPr/>
        </p:nvSpPr>
        <p:spPr>
          <a:xfrm>
            <a:off x="548640" y="1371600"/>
            <a:ext cx="2139696"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SUPPLIERS</a:t>
            </a:r>
            <a:endParaRPr lang="en-US" sz="1300" dirty="0"/>
          </a:p>
        </p:txBody>
      </p:sp>
      <p:sp>
        <p:nvSpPr>
          <p:cNvPr id="6" name="Shape 4"/>
          <p:cNvSpPr/>
          <p:nvPr/>
        </p:nvSpPr>
        <p:spPr>
          <a:xfrm>
            <a:off x="548640" y="1965960"/>
            <a:ext cx="2139696" cy="1637852"/>
          </a:xfrm>
          <a:prstGeom prst="roundRect">
            <a:avLst>
              <a:gd name="adj" fmla="val 2137"/>
            </a:avLst>
          </a:prstGeom>
          <a:solidFill>
            <a:srgbClr val="F3F6FC"/>
          </a:solidFill>
          <a:ln w="12700">
            <a:solidFill>
              <a:srgbClr val="DCE3F0"/>
            </a:solidFill>
            <a:prstDash val="solid"/>
          </a:ln>
        </p:spPr>
      </p:sp>
      <p:sp>
        <p:nvSpPr>
          <p:cNvPr id="7" name="Text 5"/>
          <p:cNvSpPr/>
          <p:nvPr/>
        </p:nvSpPr>
        <p:spPr>
          <a:xfrm>
            <a:off x="685800" y="2148840"/>
            <a:ext cx="1865376" cy="2834640"/>
          </a:xfrm>
          <a:prstGeom prst="rect">
            <a:avLst/>
          </a:prstGeom>
          <a:noFill/>
          <a:ln/>
        </p:spPr>
        <p:txBody>
          <a:bodyPr wrap="square" lIns="0" tIns="0" rIns="0" bIns="0" rtlCol="0" anchor="t"/>
          <a:lstStyle/>
          <a:p>
            <a:pPr marL="285750" indent="-285750">
              <a:lnSpc>
                <a:spcPct val="115000"/>
              </a:lnSpc>
              <a:spcAft>
                <a:spcPts val="800"/>
              </a:spcAft>
              <a:buFont typeface="Arial" panose="020B0604020202020204" pitchFamily="34" charset="0"/>
              <a:buChar char="•"/>
            </a:pPr>
            <a:r>
              <a:rPr lang="en-US" sz="1250" dirty="0">
                <a:solidFill>
                  <a:srgbClr val="1F2430"/>
                </a:solidFill>
                <a:latin typeface="Calibri" pitchFamily="34" charset="0"/>
                <a:ea typeface="Calibri" pitchFamily="34" charset="-122"/>
                <a:cs typeface="Calibri" pitchFamily="34" charset="-120"/>
              </a:rPr>
              <a:t>Tata Steel</a:t>
            </a:r>
            <a:endParaRPr lang="en-US" sz="1250" dirty="0"/>
          </a:p>
          <a:p>
            <a:pPr marL="0" indent="0">
              <a:lnSpc>
                <a:spcPct val="115000"/>
              </a:lnSpc>
              <a:spcAft>
                <a:spcPts val="800"/>
              </a:spcAft>
              <a:buNone/>
            </a:pPr>
            <a:r>
              <a:rPr lang="en-US" sz="1250" dirty="0">
                <a:solidFill>
                  <a:srgbClr val="1F2430"/>
                </a:solidFill>
                <a:latin typeface="Calibri" pitchFamily="34" charset="0"/>
                <a:ea typeface="Calibri" pitchFamily="34" charset="-122"/>
                <a:cs typeface="Calibri" pitchFamily="34" charset="-120"/>
              </a:rPr>
              <a:t>(CR steel coil)</a:t>
            </a:r>
            <a:endParaRPr lang="en-US" sz="1250" dirty="0"/>
          </a:p>
        </p:txBody>
      </p:sp>
      <p:sp>
        <p:nvSpPr>
          <p:cNvPr id="8" name="Shape 6"/>
          <p:cNvSpPr/>
          <p:nvPr/>
        </p:nvSpPr>
        <p:spPr>
          <a:xfrm>
            <a:off x="2807208" y="1371600"/>
            <a:ext cx="2139696" cy="502920"/>
          </a:xfrm>
          <a:prstGeom prst="roundRect">
            <a:avLst>
              <a:gd name="adj" fmla="val 9091"/>
            </a:avLst>
          </a:prstGeom>
          <a:solidFill>
            <a:srgbClr val="1E2761"/>
          </a:solidFill>
          <a:ln/>
        </p:spPr>
      </p:sp>
      <p:sp>
        <p:nvSpPr>
          <p:cNvPr id="9" name="Text 7"/>
          <p:cNvSpPr/>
          <p:nvPr/>
        </p:nvSpPr>
        <p:spPr>
          <a:xfrm>
            <a:off x="2807208" y="1371600"/>
            <a:ext cx="2139696"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INPUTS</a:t>
            </a:r>
            <a:endParaRPr lang="en-US" sz="1300" dirty="0"/>
          </a:p>
        </p:txBody>
      </p:sp>
      <p:sp>
        <p:nvSpPr>
          <p:cNvPr id="10" name="Shape 8"/>
          <p:cNvSpPr/>
          <p:nvPr/>
        </p:nvSpPr>
        <p:spPr>
          <a:xfrm>
            <a:off x="2807208" y="1965960"/>
            <a:ext cx="2139696" cy="1637852"/>
          </a:xfrm>
          <a:prstGeom prst="roundRect">
            <a:avLst>
              <a:gd name="adj" fmla="val 2137"/>
            </a:avLst>
          </a:prstGeom>
          <a:solidFill>
            <a:srgbClr val="F3F6FC"/>
          </a:solidFill>
          <a:ln w="12700">
            <a:solidFill>
              <a:srgbClr val="DCE3F0"/>
            </a:solidFill>
            <a:prstDash val="solid"/>
          </a:ln>
        </p:spPr>
      </p:sp>
      <p:sp>
        <p:nvSpPr>
          <p:cNvPr id="11" name="Text 9"/>
          <p:cNvSpPr/>
          <p:nvPr/>
        </p:nvSpPr>
        <p:spPr>
          <a:xfrm>
            <a:off x="2944368" y="2148840"/>
            <a:ext cx="1865376" cy="2834640"/>
          </a:xfrm>
          <a:prstGeom prst="rect">
            <a:avLst/>
          </a:prstGeom>
          <a:noFill/>
          <a:ln/>
        </p:spPr>
        <p:txBody>
          <a:bodyPr wrap="square" lIns="0" tIns="0" rIns="0" bIns="0" rtlCol="0" anchor="t"/>
          <a:lstStyle/>
          <a:p>
            <a:pPr marL="285750" indent="-285750">
              <a:lnSpc>
                <a:spcPct val="115000"/>
              </a:lnSpc>
              <a:spcAft>
                <a:spcPts val="800"/>
              </a:spcAft>
              <a:buFont typeface="Arial" panose="020B0604020202020204" pitchFamily="34" charset="0"/>
              <a:buChar char="•"/>
            </a:pPr>
            <a:r>
              <a:rPr lang="en-US" sz="1250" dirty="0">
                <a:solidFill>
                  <a:srgbClr val="1F2430"/>
                </a:solidFill>
                <a:latin typeface="Calibri" pitchFamily="34" charset="0"/>
                <a:ea typeface="Calibri" pitchFamily="34" charset="-122"/>
                <a:cs typeface="Calibri" pitchFamily="34" charset="-120"/>
              </a:rPr>
              <a:t>CR steel coil</a:t>
            </a:r>
            <a:endParaRPr lang="en-US" sz="1250" dirty="0"/>
          </a:p>
          <a:p>
            <a:pPr marL="285750" indent="-285750">
              <a:lnSpc>
                <a:spcPct val="115000"/>
              </a:lnSpc>
              <a:spcAft>
                <a:spcPts val="800"/>
              </a:spcAft>
              <a:buFont typeface="Arial" panose="020B0604020202020204" pitchFamily="34" charset="0"/>
              <a:buChar char="•"/>
            </a:pPr>
            <a:r>
              <a:rPr lang="en-US" sz="1250" dirty="0">
                <a:solidFill>
                  <a:srgbClr val="1F2430"/>
                </a:solidFill>
                <a:latin typeface="Calibri" pitchFamily="34" charset="0"/>
                <a:ea typeface="Calibri" pitchFamily="34" charset="-122"/>
                <a:cs typeface="Calibri" pitchFamily="34" charset="-120"/>
              </a:rPr>
              <a:t>Die &amp; punch tooling</a:t>
            </a:r>
            <a:endParaRPr lang="en-US" sz="1250" dirty="0"/>
          </a:p>
          <a:p>
            <a:pPr marL="285750" indent="-285750">
              <a:lnSpc>
                <a:spcPct val="115000"/>
              </a:lnSpc>
              <a:spcAft>
                <a:spcPts val="800"/>
              </a:spcAft>
              <a:buFont typeface="Arial" panose="020B0604020202020204" pitchFamily="34" charset="0"/>
              <a:buChar char="•"/>
            </a:pPr>
            <a:r>
              <a:rPr lang="en-US" sz="1250" dirty="0">
                <a:solidFill>
                  <a:srgbClr val="1F2430"/>
                </a:solidFill>
                <a:latin typeface="Calibri" pitchFamily="34" charset="0"/>
                <a:ea typeface="Calibri" pitchFamily="34" charset="-122"/>
                <a:cs typeface="Calibri" pitchFamily="34" charset="-120"/>
              </a:rPr>
              <a:t>Lubricant</a:t>
            </a:r>
            <a:endParaRPr lang="en-US" sz="1250" dirty="0"/>
          </a:p>
        </p:txBody>
      </p:sp>
      <p:sp>
        <p:nvSpPr>
          <p:cNvPr id="12" name="Shape 10"/>
          <p:cNvSpPr/>
          <p:nvPr/>
        </p:nvSpPr>
        <p:spPr>
          <a:xfrm>
            <a:off x="5065776" y="1371600"/>
            <a:ext cx="2139696" cy="502920"/>
          </a:xfrm>
          <a:prstGeom prst="roundRect">
            <a:avLst>
              <a:gd name="adj" fmla="val 9091"/>
            </a:avLst>
          </a:prstGeom>
          <a:solidFill>
            <a:srgbClr val="1E2761"/>
          </a:solidFill>
          <a:ln/>
        </p:spPr>
      </p:sp>
      <p:sp>
        <p:nvSpPr>
          <p:cNvPr id="13" name="Text 11"/>
          <p:cNvSpPr/>
          <p:nvPr/>
        </p:nvSpPr>
        <p:spPr>
          <a:xfrm>
            <a:off x="5065776" y="1371600"/>
            <a:ext cx="2139696"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PROCESS</a:t>
            </a:r>
            <a:endParaRPr lang="en-US" sz="1300" dirty="0"/>
          </a:p>
        </p:txBody>
      </p:sp>
      <p:sp>
        <p:nvSpPr>
          <p:cNvPr id="14" name="Shape 12"/>
          <p:cNvSpPr/>
          <p:nvPr/>
        </p:nvSpPr>
        <p:spPr>
          <a:xfrm>
            <a:off x="5065776" y="1965960"/>
            <a:ext cx="2139696" cy="1637852"/>
          </a:xfrm>
          <a:prstGeom prst="roundRect">
            <a:avLst>
              <a:gd name="adj" fmla="val 2137"/>
            </a:avLst>
          </a:prstGeom>
          <a:solidFill>
            <a:srgbClr val="EAF1FB"/>
          </a:solidFill>
          <a:ln w="12700">
            <a:solidFill>
              <a:srgbClr val="DCE3F0"/>
            </a:solidFill>
            <a:prstDash val="solid"/>
          </a:ln>
        </p:spPr>
      </p:sp>
      <p:sp>
        <p:nvSpPr>
          <p:cNvPr id="15" name="Text 13"/>
          <p:cNvSpPr/>
          <p:nvPr/>
        </p:nvSpPr>
        <p:spPr>
          <a:xfrm>
            <a:off x="5202936" y="2148840"/>
            <a:ext cx="1865376" cy="2834640"/>
          </a:xfrm>
          <a:prstGeom prst="rect">
            <a:avLst/>
          </a:prstGeom>
          <a:noFill/>
          <a:ln/>
        </p:spPr>
        <p:txBody>
          <a:bodyPr wrap="square" lIns="0" tIns="0" rIns="0" bIns="0" rtlCol="0" anchor="t"/>
          <a:lstStyle/>
          <a:p>
            <a:pPr marL="171450" indent="-171450">
              <a:lnSpc>
                <a:spcPct val="115000"/>
              </a:lnSpc>
              <a:spcAft>
                <a:spcPts val="800"/>
              </a:spcAft>
              <a:buSzPct val="100000"/>
              <a:buFont typeface="Arial" panose="020B0604020202020204" pitchFamily="34" charset="0"/>
              <a:buChar char="•"/>
            </a:pPr>
            <a:r>
              <a:rPr lang="en-US" sz="1150" dirty="0">
                <a:solidFill>
                  <a:srgbClr val="1F2430"/>
                </a:solidFill>
                <a:latin typeface="Calibri" pitchFamily="34" charset="0"/>
                <a:ea typeface="Calibri" pitchFamily="34" charset="-122"/>
                <a:cs typeface="Calibri" pitchFamily="34" charset="-120"/>
              </a:rPr>
              <a:t>Uncoiling &amp; blanking</a:t>
            </a:r>
            <a:endParaRPr lang="en-US" sz="1150" dirty="0"/>
          </a:p>
          <a:p>
            <a:pPr marL="171450" indent="-171450">
              <a:lnSpc>
                <a:spcPct val="115000"/>
              </a:lnSpc>
              <a:spcAft>
                <a:spcPts val="800"/>
              </a:spcAft>
              <a:buSzPct val="100000"/>
              <a:buFont typeface="Arial" panose="020B0604020202020204" pitchFamily="34" charset="0"/>
              <a:buChar char="•"/>
            </a:pPr>
            <a:r>
              <a:rPr lang="en-US" sz="1150" dirty="0">
                <a:solidFill>
                  <a:srgbClr val="1F2430"/>
                </a:solidFill>
                <a:latin typeface="Calibri" pitchFamily="34" charset="0"/>
                <a:ea typeface="Calibri" pitchFamily="34" charset="-122"/>
                <a:cs typeface="Calibri" pitchFamily="34" charset="-120"/>
              </a:rPr>
              <a:t>Press-forming (draw)</a:t>
            </a:r>
            <a:endParaRPr lang="en-US" sz="1150" dirty="0"/>
          </a:p>
          <a:p>
            <a:pPr marL="171450" indent="-171450">
              <a:lnSpc>
                <a:spcPct val="115000"/>
              </a:lnSpc>
              <a:spcAft>
                <a:spcPts val="800"/>
              </a:spcAft>
              <a:buSzPct val="100000"/>
              <a:buFont typeface="Arial" panose="020B0604020202020204" pitchFamily="34" charset="0"/>
              <a:buChar char="•"/>
            </a:pPr>
            <a:r>
              <a:rPr lang="en-US" sz="1150" dirty="0">
                <a:solidFill>
                  <a:srgbClr val="1F2430"/>
                </a:solidFill>
                <a:latin typeface="Calibri" pitchFamily="34" charset="0"/>
                <a:ea typeface="Calibri" pitchFamily="34" charset="-122"/>
                <a:cs typeface="Calibri" pitchFamily="34" charset="-120"/>
              </a:rPr>
              <a:t>Flanging / trimming</a:t>
            </a:r>
            <a:endParaRPr lang="en-US" sz="1150" dirty="0"/>
          </a:p>
          <a:p>
            <a:pPr marL="171450" indent="-171450">
              <a:lnSpc>
                <a:spcPct val="115000"/>
              </a:lnSpc>
              <a:spcAft>
                <a:spcPts val="800"/>
              </a:spcAft>
              <a:buSzPct val="100000"/>
              <a:buFont typeface="Arial" panose="020B0604020202020204" pitchFamily="34" charset="0"/>
              <a:buChar char="•"/>
            </a:pPr>
            <a:r>
              <a:rPr lang="en-US" sz="1150" dirty="0">
                <a:solidFill>
                  <a:srgbClr val="1F2430"/>
                </a:solidFill>
                <a:latin typeface="Calibri" pitchFamily="34" charset="0"/>
                <a:ea typeface="Calibri" pitchFamily="34" charset="-122"/>
                <a:cs typeface="Calibri" pitchFamily="34" charset="-120"/>
              </a:rPr>
              <a:t>In-line dimension check</a:t>
            </a:r>
            <a:endParaRPr lang="en-US" sz="1150" dirty="0"/>
          </a:p>
          <a:p>
            <a:pPr marL="171450" indent="-171450">
              <a:lnSpc>
                <a:spcPct val="115000"/>
              </a:lnSpc>
              <a:spcAft>
                <a:spcPts val="800"/>
              </a:spcAft>
              <a:buSzPct val="100000"/>
              <a:buFont typeface="Arial" panose="020B0604020202020204" pitchFamily="34" charset="0"/>
              <a:buChar char="•"/>
            </a:pPr>
            <a:r>
              <a:rPr lang="en-US" sz="1150" dirty="0">
                <a:solidFill>
                  <a:srgbClr val="1F2430"/>
                </a:solidFill>
                <a:latin typeface="Calibri" pitchFamily="34" charset="0"/>
                <a:ea typeface="Calibri" pitchFamily="34" charset="-122"/>
                <a:cs typeface="Calibri" pitchFamily="34" charset="-120"/>
              </a:rPr>
              <a:t>Pack &amp; dispatch</a:t>
            </a:r>
            <a:endParaRPr lang="en-US" sz="1150" dirty="0"/>
          </a:p>
        </p:txBody>
      </p:sp>
      <p:sp>
        <p:nvSpPr>
          <p:cNvPr id="16" name="Shape 14"/>
          <p:cNvSpPr/>
          <p:nvPr/>
        </p:nvSpPr>
        <p:spPr>
          <a:xfrm>
            <a:off x="7324344" y="1371600"/>
            <a:ext cx="2139696" cy="502920"/>
          </a:xfrm>
          <a:prstGeom prst="roundRect">
            <a:avLst>
              <a:gd name="adj" fmla="val 9091"/>
            </a:avLst>
          </a:prstGeom>
          <a:solidFill>
            <a:srgbClr val="1E2761"/>
          </a:solidFill>
          <a:ln/>
        </p:spPr>
      </p:sp>
      <p:sp>
        <p:nvSpPr>
          <p:cNvPr id="17" name="Text 15"/>
          <p:cNvSpPr/>
          <p:nvPr/>
        </p:nvSpPr>
        <p:spPr>
          <a:xfrm>
            <a:off x="7324344" y="1371600"/>
            <a:ext cx="2139696"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OUTPUTS</a:t>
            </a:r>
            <a:endParaRPr lang="en-US" sz="1300" dirty="0"/>
          </a:p>
        </p:txBody>
      </p:sp>
      <p:sp>
        <p:nvSpPr>
          <p:cNvPr id="18" name="Shape 16"/>
          <p:cNvSpPr/>
          <p:nvPr/>
        </p:nvSpPr>
        <p:spPr>
          <a:xfrm>
            <a:off x="7324344" y="1965960"/>
            <a:ext cx="2139696" cy="1637852"/>
          </a:xfrm>
          <a:prstGeom prst="roundRect">
            <a:avLst>
              <a:gd name="adj" fmla="val 2137"/>
            </a:avLst>
          </a:prstGeom>
          <a:solidFill>
            <a:srgbClr val="F3F6FC"/>
          </a:solidFill>
          <a:ln w="12700">
            <a:solidFill>
              <a:srgbClr val="DCE3F0"/>
            </a:solidFill>
            <a:prstDash val="solid"/>
          </a:ln>
        </p:spPr>
      </p:sp>
      <p:sp>
        <p:nvSpPr>
          <p:cNvPr id="19" name="Text 17"/>
          <p:cNvSpPr/>
          <p:nvPr/>
        </p:nvSpPr>
        <p:spPr>
          <a:xfrm>
            <a:off x="7461504" y="2148840"/>
            <a:ext cx="1865376" cy="2834640"/>
          </a:xfrm>
          <a:prstGeom prst="rect">
            <a:avLst/>
          </a:prstGeom>
          <a:noFill/>
          <a:ln/>
        </p:spPr>
        <p:txBody>
          <a:bodyPr wrap="square" lIns="0" tIns="0" rIns="0" bIns="0" rtlCol="0" anchor="t"/>
          <a:lstStyle/>
          <a:p>
            <a:pPr marL="285750" indent="-285750">
              <a:lnSpc>
                <a:spcPct val="115000"/>
              </a:lnSpc>
              <a:spcAft>
                <a:spcPts val="800"/>
              </a:spcAft>
              <a:buFont typeface="Arial" panose="020B0604020202020204" pitchFamily="34" charset="0"/>
              <a:buChar char="•"/>
            </a:pPr>
            <a:r>
              <a:rPr lang="en-US" sz="1250" dirty="0">
                <a:solidFill>
                  <a:srgbClr val="1F2430"/>
                </a:solidFill>
                <a:latin typeface="Calibri" pitchFamily="34" charset="0"/>
                <a:ea typeface="Calibri" pitchFamily="34" charset="-122"/>
                <a:cs typeface="Calibri" pitchFamily="34" charset="-120"/>
              </a:rPr>
              <a:t>Pressed sheet-metal</a:t>
            </a:r>
            <a:endParaRPr lang="en-US" sz="1250" dirty="0"/>
          </a:p>
          <a:p>
            <a:pPr marL="285750" indent="-285750">
              <a:lnSpc>
                <a:spcPct val="115000"/>
              </a:lnSpc>
              <a:spcAft>
                <a:spcPts val="800"/>
              </a:spcAft>
              <a:buFont typeface="Arial" panose="020B0604020202020204" pitchFamily="34" charset="0"/>
              <a:buChar char="•"/>
            </a:pPr>
            <a:r>
              <a:rPr lang="en-US" sz="1250" dirty="0">
                <a:solidFill>
                  <a:srgbClr val="1F2430"/>
                </a:solidFill>
                <a:latin typeface="Calibri" pitchFamily="34" charset="0"/>
                <a:ea typeface="Calibri" pitchFamily="34" charset="-122"/>
                <a:cs typeface="Calibri" pitchFamily="34" charset="-120"/>
              </a:rPr>
              <a:t>chassis / body part</a:t>
            </a:r>
            <a:endParaRPr lang="en-US" sz="1250" dirty="0"/>
          </a:p>
        </p:txBody>
      </p:sp>
      <p:sp>
        <p:nvSpPr>
          <p:cNvPr id="20" name="Shape 18"/>
          <p:cNvSpPr/>
          <p:nvPr/>
        </p:nvSpPr>
        <p:spPr>
          <a:xfrm>
            <a:off x="9582912" y="1371600"/>
            <a:ext cx="2139696" cy="502920"/>
          </a:xfrm>
          <a:prstGeom prst="roundRect">
            <a:avLst>
              <a:gd name="adj" fmla="val 9091"/>
            </a:avLst>
          </a:prstGeom>
          <a:solidFill>
            <a:srgbClr val="1E2761"/>
          </a:solidFill>
          <a:ln/>
        </p:spPr>
      </p:sp>
      <p:sp>
        <p:nvSpPr>
          <p:cNvPr id="21" name="Text 19"/>
          <p:cNvSpPr/>
          <p:nvPr/>
        </p:nvSpPr>
        <p:spPr>
          <a:xfrm>
            <a:off x="9582912" y="1371600"/>
            <a:ext cx="2139696"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CUSTOMERS</a:t>
            </a:r>
            <a:endParaRPr lang="en-US" sz="1300" dirty="0"/>
          </a:p>
        </p:txBody>
      </p:sp>
      <p:sp>
        <p:nvSpPr>
          <p:cNvPr id="22" name="Shape 20"/>
          <p:cNvSpPr/>
          <p:nvPr/>
        </p:nvSpPr>
        <p:spPr>
          <a:xfrm>
            <a:off x="9582912" y="1965960"/>
            <a:ext cx="2139696" cy="1637852"/>
          </a:xfrm>
          <a:prstGeom prst="roundRect">
            <a:avLst>
              <a:gd name="adj" fmla="val 2137"/>
            </a:avLst>
          </a:prstGeom>
          <a:solidFill>
            <a:srgbClr val="F3F6FC"/>
          </a:solidFill>
          <a:ln w="12700">
            <a:solidFill>
              <a:srgbClr val="DCE3F0"/>
            </a:solidFill>
            <a:prstDash val="solid"/>
          </a:ln>
        </p:spPr>
      </p:sp>
      <p:sp>
        <p:nvSpPr>
          <p:cNvPr id="23" name="Text 21"/>
          <p:cNvSpPr/>
          <p:nvPr/>
        </p:nvSpPr>
        <p:spPr>
          <a:xfrm>
            <a:off x="9720072" y="2148840"/>
            <a:ext cx="1865376" cy="2834640"/>
          </a:xfrm>
          <a:prstGeom prst="rect">
            <a:avLst/>
          </a:prstGeom>
          <a:noFill/>
          <a:ln/>
        </p:spPr>
        <p:txBody>
          <a:bodyPr wrap="square" lIns="0" tIns="0" rIns="0" bIns="0" rtlCol="0" anchor="t"/>
          <a:lstStyle/>
          <a:p>
            <a:pPr marL="285750" indent="-285750">
              <a:lnSpc>
                <a:spcPct val="115000"/>
              </a:lnSpc>
              <a:spcAft>
                <a:spcPts val="800"/>
              </a:spcAft>
              <a:buFont typeface="Arial" panose="020B0604020202020204" pitchFamily="34" charset="0"/>
              <a:buChar char="•"/>
            </a:pPr>
            <a:r>
              <a:rPr lang="en-US" sz="1250" dirty="0">
                <a:solidFill>
                  <a:srgbClr val="1F2430"/>
                </a:solidFill>
                <a:latin typeface="Calibri" pitchFamily="34" charset="0"/>
                <a:ea typeface="Calibri" pitchFamily="34" charset="-122"/>
                <a:cs typeface="Calibri" pitchFamily="34" charset="-120"/>
              </a:rPr>
              <a:t>Maruti Suzuki India Ltd.</a:t>
            </a:r>
            <a:endParaRPr lang="en-US" sz="1250" dirty="0"/>
          </a:p>
          <a:p>
            <a:pPr marL="0" indent="0">
              <a:lnSpc>
                <a:spcPct val="115000"/>
              </a:lnSpc>
              <a:spcAft>
                <a:spcPts val="800"/>
              </a:spcAft>
              <a:buNone/>
            </a:pPr>
            <a:r>
              <a:rPr lang="en-US" sz="1250" dirty="0">
                <a:solidFill>
                  <a:srgbClr val="1F2430"/>
                </a:solidFill>
                <a:latin typeface="Calibri" pitchFamily="34" charset="0"/>
                <a:ea typeface="Calibri" pitchFamily="34" charset="-122"/>
                <a:cs typeface="Calibri" pitchFamily="34" charset="-120"/>
              </a:rPr>
              <a:t>(assembly line)</a:t>
            </a:r>
            <a:endParaRPr lang="en-US" sz="1250" dirty="0"/>
          </a:p>
        </p:txBody>
      </p:sp>
      <p:sp>
        <p:nvSpPr>
          <p:cNvPr id="24" name="Text 22"/>
          <p:cNvSpPr/>
          <p:nvPr/>
        </p:nvSpPr>
        <p:spPr>
          <a:xfrm>
            <a:off x="566928" y="3653566"/>
            <a:ext cx="11064240" cy="548640"/>
          </a:xfrm>
          <a:prstGeom prst="rect">
            <a:avLst/>
          </a:prstGeom>
          <a:noFill/>
          <a:ln/>
        </p:spPr>
        <p:txBody>
          <a:bodyPr wrap="square" lIns="0" tIns="0" rIns="0" bIns="0"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Critical to Quality (CTQ):  no visible crack or fracture on the panel/flange radius  ·  flange height within drawing tolerance  ·  on-time delivery of conforming parts</a:t>
            </a:r>
            <a:endParaRPr lang="en-US" sz="1300" dirty="0"/>
          </a:p>
        </p:txBody>
      </p:sp>
      <p:sp>
        <p:nvSpPr>
          <p:cNvPr id="25" name="Text 23"/>
          <p:cNvSpPr/>
          <p:nvPr/>
        </p:nvSpPr>
        <p:spPr>
          <a:xfrm>
            <a:off x="548640" y="6510528"/>
            <a:ext cx="5486400" cy="274320"/>
          </a:xfrm>
          <a:prstGeom prst="rect">
            <a:avLst/>
          </a:prstGeom>
          <a:noFill/>
          <a:ln/>
        </p:spPr>
        <p:txBody>
          <a:bodyPr wrap="square" lIns="0" tIns="0" rIns="0" bIns="0" rtlCol="0" anchor="ctr"/>
          <a:lstStyle/>
          <a:p>
            <a:pPr marL="0" indent="0">
              <a:buNone/>
            </a:pPr>
            <a:r>
              <a:rPr lang="en-US" sz="1000" dirty="0">
                <a:solidFill>
                  <a:srgbClr val="AAB2C0"/>
                </a:solidFill>
                <a:latin typeface="Calibri" pitchFamily="34" charset="0"/>
                <a:ea typeface="Calibri" pitchFamily="34" charset="-122"/>
                <a:cs typeface="Calibri" pitchFamily="34" charset="-120"/>
              </a:rPr>
              <a:t>SKH Metals — DMAIC Six Sigma Project</a:t>
            </a:r>
            <a:endParaRPr lang="en-US" sz="1000" dirty="0"/>
          </a:p>
        </p:txBody>
      </p:sp>
      <p:sp>
        <p:nvSpPr>
          <p:cNvPr id="26" name="Text 24"/>
          <p:cNvSpPr/>
          <p:nvPr/>
        </p:nvSpPr>
        <p:spPr>
          <a:xfrm>
            <a:off x="11612880" y="6510528"/>
            <a:ext cx="45720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3</a:t>
            </a:r>
            <a:endParaRPr lang="en-US" sz="1000" dirty="0"/>
          </a:p>
        </p:txBody>
      </p:sp>
      <p:pic>
        <p:nvPicPr>
          <p:cNvPr id="28" name="Picture 27">
            <a:extLst>
              <a:ext uri="{FF2B5EF4-FFF2-40B4-BE49-F238E27FC236}">
                <a16:creationId xmlns:a16="http://schemas.microsoft.com/office/drawing/2014/main" id="{05A72423-8D2D-DF44-B184-35BC5A9DC440}"/>
              </a:ext>
            </a:extLst>
          </p:cNvPr>
          <p:cNvPicPr>
            <a:picLocks noChangeAspect="1"/>
          </p:cNvPicPr>
          <p:nvPr/>
        </p:nvPicPr>
        <p:blipFill>
          <a:blip r:embed="rId3"/>
          <a:srcRect l="14500" t="17451" b="12335"/>
          <a:stretch>
            <a:fillRect/>
          </a:stretch>
        </p:blipFill>
        <p:spPr>
          <a:xfrm>
            <a:off x="8129016" y="4220023"/>
            <a:ext cx="3377184" cy="2325669"/>
          </a:xfrm>
          <a:prstGeom prst="rect">
            <a:avLst/>
          </a:prstGeom>
          <a:ln>
            <a:solidFill>
              <a:schemeClr val="tx1">
                <a:lumMod val="95000"/>
                <a:lumOff val="5000"/>
              </a:schemeClr>
            </a:solidFill>
          </a:ln>
        </p:spPr>
      </p:pic>
      <p:pic>
        <p:nvPicPr>
          <p:cNvPr id="2050" name="Picture 2" descr="Hot-Rolled vs Cold-Rolled Steel: Differences in Strength &amp; Finish">
            <a:extLst>
              <a:ext uri="{FF2B5EF4-FFF2-40B4-BE49-F238E27FC236}">
                <a16:creationId xmlns:a16="http://schemas.microsoft.com/office/drawing/2014/main" id="{22BB1A4E-7B4B-AC6C-5F0A-6358253FBB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928" y="4202206"/>
            <a:ext cx="3434688" cy="2274139"/>
          </a:xfrm>
          <a:prstGeom prst="rect">
            <a:avLst/>
          </a:prstGeom>
          <a:noFill/>
          <a:ln>
            <a:solidFill>
              <a:schemeClr val="tx1">
                <a:lumMod val="95000"/>
                <a:lumOff val="5000"/>
              </a:schemeClr>
            </a:solidFill>
          </a:ln>
          <a:extLst>
            <a:ext uri="{909E8E84-426E-40DD-AFC4-6F175D3DCCD1}">
              <a14:hiddenFill xmlns:a14="http://schemas.microsoft.com/office/drawing/2010/main">
                <a:solidFill>
                  <a:srgbClr val="FFFFFF"/>
                </a:solidFill>
              </a14:hiddenFill>
            </a:ext>
          </a:extLst>
        </p:spPr>
      </p:pic>
      <p:pic>
        <p:nvPicPr>
          <p:cNvPr id="2052" name="Picture 4" descr="Robots advance in the stamping shop">
            <a:extLst>
              <a:ext uri="{FF2B5EF4-FFF2-40B4-BE49-F238E27FC236}">
                <a16:creationId xmlns:a16="http://schemas.microsoft.com/office/drawing/2014/main" id="{3F89DF81-E00A-69D6-2F69-13018C2BA2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9244" y="4202206"/>
            <a:ext cx="2842260" cy="22741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84280" y="384048"/>
            <a:ext cx="502920" cy="502920"/>
          </a:xfrm>
          <a:prstGeom prst="ellipse">
            <a:avLst/>
          </a:prstGeom>
          <a:solidFill>
            <a:srgbClr val="1E2761"/>
          </a:solidFill>
          <a:ln/>
        </p:spPr>
      </p:sp>
      <p:sp>
        <p:nvSpPr>
          <p:cNvPr id="3" name="Text 1"/>
          <p:cNvSpPr/>
          <p:nvPr/>
        </p:nvSpPr>
        <p:spPr>
          <a:xfrm>
            <a:off x="11384280" y="38404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D</a:t>
            </a:r>
            <a:endParaRPr lang="en-US" sz="2000" dirty="0"/>
          </a:p>
        </p:txBody>
      </p:sp>
      <p:sp>
        <p:nvSpPr>
          <p:cNvPr id="4" name="Text 2"/>
          <p:cNvSpPr/>
          <p:nvPr/>
        </p:nvSpPr>
        <p:spPr>
          <a:xfrm>
            <a:off x="566928" y="128016"/>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DEFINE</a:t>
            </a:r>
            <a:endParaRPr lang="en-US" sz="1200" dirty="0"/>
          </a:p>
        </p:txBody>
      </p:sp>
      <p:sp>
        <p:nvSpPr>
          <p:cNvPr id="5" name="Text 3"/>
          <p:cNvSpPr/>
          <p:nvPr/>
        </p:nvSpPr>
        <p:spPr>
          <a:xfrm>
            <a:off x="548640" y="365760"/>
            <a:ext cx="10424160" cy="5943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Problem Statement &amp; Project Charter</a:t>
            </a:r>
            <a:endParaRPr lang="en-US" sz="3000" dirty="0"/>
          </a:p>
        </p:txBody>
      </p:sp>
      <p:sp>
        <p:nvSpPr>
          <p:cNvPr id="6" name="Shape 4"/>
          <p:cNvSpPr/>
          <p:nvPr/>
        </p:nvSpPr>
        <p:spPr>
          <a:xfrm>
            <a:off x="548640" y="1234440"/>
            <a:ext cx="5394960" cy="5029200"/>
          </a:xfrm>
          <a:prstGeom prst="roundRect">
            <a:avLst>
              <a:gd name="adj" fmla="val 1091"/>
            </a:avLst>
          </a:prstGeom>
          <a:solidFill>
            <a:srgbClr val="F3F6FC"/>
          </a:solidFill>
          <a:ln w="12700">
            <a:solidFill>
              <a:srgbClr val="DCE3F0"/>
            </a:solidFill>
            <a:prstDash val="solid"/>
          </a:ln>
        </p:spPr>
      </p:sp>
      <p:sp>
        <p:nvSpPr>
          <p:cNvPr id="7" name="Text 5"/>
          <p:cNvSpPr/>
          <p:nvPr/>
        </p:nvSpPr>
        <p:spPr>
          <a:xfrm>
            <a:off x="777240" y="1417320"/>
            <a:ext cx="49377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Problem Statement</a:t>
            </a:r>
            <a:endParaRPr lang="en-US" sz="1500" dirty="0"/>
          </a:p>
        </p:txBody>
      </p:sp>
      <p:sp>
        <p:nvSpPr>
          <p:cNvPr id="8" name="Text 6"/>
          <p:cNvSpPr/>
          <p:nvPr/>
        </p:nvSpPr>
        <p:spPr>
          <a:xfrm>
            <a:off x="777240" y="1783080"/>
            <a:ext cx="4937760" cy="1234440"/>
          </a:xfrm>
          <a:prstGeom prst="rect">
            <a:avLst/>
          </a:prstGeom>
          <a:noFill/>
          <a:ln/>
        </p:spPr>
        <p:txBody>
          <a:bodyPr wrap="square" lIns="0" tIns="0" rIns="0" bIns="0" rtlCol="0" anchor="t"/>
          <a:lstStyle/>
          <a:p>
            <a:pPr marL="0" indent="0">
              <a:lnSpc>
                <a:spcPct val="120000"/>
              </a:lnSpc>
              <a:buNone/>
            </a:pPr>
            <a:r>
              <a:rPr lang="en-US" sz="1300" dirty="0">
                <a:solidFill>
                  <a:srgbClr val="1F2430"/>
                </a:solidFill>
                <a:latin typeface="Calibri" pitchFamily="34" charset="0"/>
                <a:ea typeface="Calibri" pitchFamily="34" charset="-122"/>
                <a:cs typeface="Calibri" pitchFamily="34" charset="-120"/>
              </a:rPr>
              <a:t>SKH Metals' press-shop is experiencing persistent rejections on Maruti Suzuki chassis parts. These defects consume material, rework capacity and inspection time, and risk an in-line stoppage at the customer if an escaped defect is detected downstream.</a:t>
            </a:r>
            <a:endParaRPr lang="en-US" sz="1300" dirty="0"/>
          </a:p>
        </p:txBody>
      </p:sp>
      <p:sp>
        <p:nvSpPr>
          <p:cNvPr id="9" name="Text 7"/>
          <p:cNvSpPr/>
          <p:nvPr/>
        </p:nvSpPr>
        <p:spPr>
          <a:xfrm>
            <a:off x="777240" y="2880360"/>
            <a:ext cx="49377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Business Impact</a:t>
            </a:r>
            <a:endParaRPr lang="en-US" sz="1500" dirty="0"/>
          </a:p>
        </p:txBody>
      </p:sp>
      <p:sp>
        <p:nvSpPr>
          <p:cNvPr id="10" name="Text 8"/>
          <p:cNvSpPr/>
          <p:nvPr/>
        </p:nvSpPr>
        <p:spPr>
          <a:xfrm>
            <a:off x="762000" y="3127248"/>
            <a:ext cx="4296784" cy="17373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250" dirty="0">
                <a:solidFill>
                  <a:srgbClr val="1F2430"/>
                </a:solidFill>
                <a:latin typeface="Calibri" pitchFamily="34" charset="0"/>
                <a:ea typeface="Calibri" pitchFamily="34" charset="-122"/>
                <a:cs typeface="Calibri" pitchFamily="34" charset="-120"/>
              </a:rPr>
              <a:t>Scrap &amp; rework cost on every rejected piece</a:t>
            </a:r>
            <a:endParaRPr lang="en-US" sz="1250" dirty="0"/>
          </a:p>
          <a:p>
            <a:pPr marL="342900" indent="-342900">
              <a:lnSpc>
                <a:spcPct val="115000"/>
              </a:lnSpc>
              <a:spcAft>
                <a:spcPts val="1000"/>
              </a:spcAft>
              <a:buSzPct val="100000"/>
              <a:buChar char="●"/>
            </a:pPr>
            <a:r>
              <a:rPr lang="en-US" sz="1250" dirty="0">
                <a:solidFill>
                  <a:srgbClr val="1F2430"/>
                </a:solidFill>
                <a:latin typeface="Calibri" pitchFamily="34" charset="0"/>
                <a:ea typeface="Calibri" pitchFamily="34" charset="-122"/>
                <a:cs typeface="Calibri" pitchFamily="34" charset="-120"/>
              </a:rPr>
              <a:t>Defects across all 31 days — an uncontrolled, not one-off, source of variation</a:t>
            </a:r>
            <a:endParaRPr lang="en-US" sz="1250" dirty="0"/>
          </a:p>
        </p:txBody>
      </p:sp>
      <p:sp>
        <p:nvSpPr>
          <p:cNvPr id="11" name="Shape 9"/>
          <p:cNvSpPr/>
          <p:nvPr/>
        </p:nvSpPr>
        <p:spPr>
          <a:xfrm>
            <a:off x="6172200" y="1234440"/>
            <a:ext cx="5486400" cy="5029200"/>
          </a:xfrm>
          <a:prstGeom prst="roundRect">
            <a:avLst>
              <a:gd name="adj" fmla="val 1091"/>
            </a:avLst>
          </a:prstGeom>
          <a:solidFill>
            <a:srgbClr val="1E2761"/>
          </a:solidFill>
          <a:ln/>
        </p:spPr>
      </p:sp>
      <p:sp>
        <p:nvSpPr>
          <p:cNvPr id="12" name="Text 10"/>
          <p:cNvSpPr/>
          <p:nvPr/>
        </p:nvSpPr>
        <p:spPr>
          <a:xfrm>
            <a:off x="6400800" y="1417320"/>
            <a:ext cx="502920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Project Charter</a:t>
            </a:r>
            <a:endParaRPr lang="en-US" sz="1500" dirty="0"/>
          </a:p>
        </p:txBody>
      </p:sp>
      <p:sp>
        <p:nvSpPr>
          <p:cNvPr id="13" name="Text 11"/>
          <p:cNvSpPr/>
          <p:nvPr/>
        </p:nvSpPr>
        <p:spPr>
          <a:xfrm>
            <a:off x="6400800" y="1874520"/>
            <a:ext cx="5029200" cy="274320"/>
          </a:xfrm>
          <a:prstGeom prst="rect">
            <a:avLst/>
          </a:prstGeom>
          <a:noFill/>
          <a:ln/>
        </p:spPr>
        <p:txBody>
          <a:bodyPr wrap="square" lIns="0" tIns="0" rIns="0" bIns="0" rtlCol="0" anchor="ctr"/>
          <a:lstStyle/>
          <a:p>
            <a:pPr marL="0" indent="0">
              <a:buNone/>
            </a:pPr>
            <a:r>
              <a:rPr lang="en-US" sz="1100" b="1" kern="0" spc="100" dirty="0">
                <a:solidFill>
                  <a:srgbClr val="CADCFC"/>
                </a:solidFill>
                <a:latin typeface="Calibri" pitchFamily="34" charset="0"/>
                <a:ea typeface="Calibri" pitchFamily="34" charset="-122"/>
                <a:cs typeface="Calibri" pitchFamily="34" charset="-120"/>
              </a:rPr>
              <a:t>GOAL</a:t>
            </a:r>
            <a:endParaRPr lang="en-US" sz="1100" dirty="0"/>
          </a:p>
        </p:txBody>
      </p:sp>
      <p:sp>
        <p:nvSpPr>
          <p:cNvPr id="14" name="Text 12"/>
          <p:cNvSpPr/>
          <p:nvPr/>
        </p:nvSpPr>
        <p:spPr>
          <a:xfrm>
            <a:off x="6400800" y="2167128"/>
            <a:ext cx="5029200" cy="685800"/>
          </a:xfrm>
          <a:prstGeom prst="rect">
            <a:avLst/>
          </a:prstGeom>
          <a:noFill/>
          <a:ln/>
        </p:spPr>
        <p:txBody>
          <a:bodyPr wrap="square" lIns="0" tIns="0" rIns="0" bIns="0" rtlCol="0" anchor="ctr"/>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Checking the Causes and Reducing the defects which contribute more to the rejections while increasing the sigma level 4.50 → ~4.99</a:t>
            </a:r>
            <a:endParaRPr lang="en-US" sz="1250" dirty="0"/>
          </a:p>
        </p:txBody>
      </p:sp>
      <p:sp>
        <p:nvSpPr>
          <p:cNvPr id="15" name="Text 13"/>
          <p:cNvSpPr/>
          <p:nvPr/>
        </p:nvSpPr>
        <p:spPr>
          <a:xfrm>
            <a:off x="6400800" y="2953512"/>
            <a:ext cx="5029200" cy="274320"/>
          </a:xfrm>
          <a:prstGeom prst="rect">
            <a:avLst/>
          </a:prstGeom>
          <a:noFill/>
          <a:ln/>
        </p:spPr>
        <p:txBody>
          <a:bodyPr wrap="square" lIns="0" tIns="0" rIns="0" bIns="0" rtlCol="0" anchor="ctr"/>
          <a:lstStyle/>
          <a:p>
            <a:pPr marL="0" indent="0">
              <a:buNone/>
            </a:pPr>
            <a:r>
              <a:rPr lang="en-US" sz="1100" b="1" kern="0" spc="100" dirty="0">
                <a:solidFill>
                  <a:srgbClr val="CADCFC"/>
                </a:solidFill>
                <a:latin typeface="Calibri" pitchFamily="34" charset="0"/>
                <a:ea typeface="Calibri" pitchFamily="34" charset="-122"/>
                <a:cs typeface="Calibri" pitchFamily="34" charset="-120"/>
              </a:rPr>
              <a:t>SCOPE</a:t>
            </a:r>
            <a:endParaRPr lang="en-US" sz="1100" dirty="0"/>
          </a:p>
        </p:txBody>
      </p:sp>
      <p:sp>
        <p:nvSpPr>
          <p:cNvPr id="16" name="Text 14"/>
          <p:cNvSpPr/>
          <p:nvPr/>
        </p:nvSpPr>
        <p:spPr>
          <a:xfrm>
            <a:off x="6400800" y="3246120"/>
            <a:ext cx="5029200" cy="685800"/>
          </a:xfrm>
          <a:prstGeom prst="rect">
            <a:avLst/>
          </a:prstGeom>
          <a:noFill/>
          <a:ln/>
        </p:spPr>
        <p:txBody>
          <a:bodyPr wrap="square" lIns="0" tIns="0" rIns="0" bIns="0" rtlCol="0" anchor="ctr"/>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Press-forming &amp; flanging only — excludes anodizing, welding, final-fitting</a:t>
            </a:r>
            <a:endParaRPr lang="en-US" sz="1250" dirty="0"/>
          </a:p>
        </p:txBody>
      </p:sp>
      <p:sp>
        <p:nvSpPr>
          <p:cNvPr id="17" name="Text 15"/>
          <p:cNvSpPr/>
          <p:nvPr/>
        </p:nvSpPr>
        <p:spPr>
          <a:xfrm>
            <a:off x="6400800" y="4032504"/>
            <a:ext cx="5029200" cy="274320"/>
          </a:xfrm>
          <a:prstGeom prst="rect">
            <a:avLst/>
          </a:prstGeom>
          <a:noFill/>
          <a:ln/>
        </p:spPr>
        <p:txBody>
          <a:bodyPr wrap="square" lIns="0" tIns="0" rIns="0" bIns="0" rtlCol="0" anchor="ctr"/>
          <a:lstStyle/>
          <a:p>
            <a:pPr marL="0" indent="0">
              <a:buNone/>
            </a:pPr>
            <a:r>
              <a:rPr lang="en-US" sz="1100" b="1" kern="0" spc="100" dirty="0">
                <a:solidFill>
                  <a:srgbClr val="CADCFC"/>
                </a:solidFill>
                <a:latin typeface="Calibri" pitchFamily="34" charset="0"/>
                <a:ea typeface="Calibri" pitchFamily="34" charset="-122"/>
                <a:cs typeface="Calibri" pitchFamily="34" charset="-120"/>
              </a:rPr>
              <a:t>TIMELINE</a:t>
            </a:r>
            <a:endParaRPr lang="en-US" sz="1100" dirty="0"/>
          </a:p>
        </p:txBody>
      </p:sp>
      <p:sp>
        <p:nvSpPr>
          <p:cNvPr id="18" name="Text 16"/>
          <p:cNvSpPr/>
          <p:nvPr/>
        </p:nvSpPr>
        <p:spPr>
          <a:xfrm>
            <a:off x="6400800" y="4325112"/>
            <a:ext cx="5029200" cy="685800"/>
          </a:xfrm>
          <a:prstGeom prst="rect">
            <a:avLst/>
          </a:prstGeom>
          <a:noFill/>
          <a:ln/>
        </p:spPr>
        <p:txBody>
          <a:bodyPr wrap="square" lIns="0" tIns="0" rIns="0" bIns="0" rtlCol="0" anchor="ctr"/>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1 months (Measure–Analyse: 2 wks; Improve: 1 wks; Control: ongoing)</a:t>
            </a:r>
            <a:endParaRPr lang="en-US" sz="1250" dirty="0"/>
          </a:p>
        </p:txBody>
      </p:sp>
      <p:sp>
        <p:nvSpPr>
          <p:cNvPr id="19" name="Text 17"/>
          <p:cNvSpPr/>
          <p:nvPr/>
        </p:nvSpPr>
        <p:spPr>
          <a:xfrm>
            <a:off x="6400800" y="5111496"/>
            <a:ext cx="5029200" cy="274320"/>
          </a:xfrm>
          <a:prstGeom prst="rect">
            <a:avLst/>
          </a:prstGeom>
          <a:noFill/>
          <a:ln/>
        </p:spPr>
        <p:txBody>
          <a:bodyPr wrap="square" lIns="0" tIns="0" rIns="0" bIns="0" rtlCol="0" anchor="ctr"/>
          <a:lstStyle/>
          <a:p>
            <a:pPr marL="0" indent="0">
              <a:buNone/>
            </a:pPr>
            <a:r>
              <a:rPr lang="en-US" sz="1100" b="1" kern="0" spc="100" dirty="0">
                <a:solidFill>
                  <a:srgbClr val="CADCFC"/>
                </a:solidFill>
                <a:latin typeface="Calibri" pitchFamily="34" charset="0"/>
                <a:ea typeface="Calibri" pitchFamily="34" charset="-122"/>
                <a:cs typeface="Calibri" pitchFamily="34" charset="-120"/>
              </a:rPr>
              <a:t>TEAM</a:t>
            </a:r>
            <a:endParaRPr lang="en-US" sz="1100" dirty="0"/>
          </a:p>
        </p:txBody>
      </p:sp>
      <p:sp>
        <p:nvSpPr>
          <p:cNvPr id="20" name="Text 18"/>
          <p:cNvSpPr/>
          <p:nvPr/>
        </p:nvSpPr>
        <p:spPr>
          <a:xfrm>
            <a:off x="6400800" y="5404104"/>
            <a:ext cx="5029200" cy="685800"/>
          </a:xfrm>
          <a:prstGeom prst="rect">
            <a:avLst/>
          </a:prstGeom>
          <a:noFill/>
          <a:ln/>
        </p:spPr>
        <p:txBody>
          <a:bodyPr wrap="square" lIns="0" tIns="0" rIns="0" bIns="0" rtlCol="0" anchor="ctr"/>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Quality Head · Press-shop Supervisor · QA Inspector · Student Project Team</a:t>
            </a:r>
            <a:endParaRPr lang="en-US" sz="1250" dirty="0"/>
          </a:p>
        </p:txBody>
      </p:sp>
      <p:sp>
        <p:nvSpPr>
          <p:cNvPr id="21" name="Text 19"/>
          <p:cNvSpPr/>
          <p:nvPr/>
        </p:nvSpPr>
        <p:spPr>
          <a:xfrm>
            <a:off x="548640" y="6510528"/>
            <a:ext cx="5486400" cy="274320"/>
          </a:xfrm>
          <a:prstGeom prst="rect">
            <a:avLst/>
          </a:prstGeom>
          <a:noFill/>
          <a:ln/>
        </p:spPr>
        <p:txBody>
          <a:bodyPr wrap="square" lIns="0" tIns="0" rIns="0" bIns="0" rtlCol="0" anchor="ctr"/>
          <a:lstStyle/>
          <a:p>
            <a:pPr marL="0" indent="0">
              <a:buNone/>
            </a:pPr>
            <a:r>
              <a:rPr lang="en-US" sz="1000" dirty="0">
                <a:solidFill>
                  <a:srgbClr val="AAB2C0"/>
                </a:solidFill>
                <a:latin typeface="Calibri" pitchFamily="34" charset="0"/>
                <a:ea typeface="Calibri" pitchFamily="34" charset="-122"/>
                <a:cs typeface="Calibri" pitchFamily="34" charset="-120"/>
              </a:rPr>
              <a:t>SKH Metals — DMAIC Six Sigma Project</a:t>
            </a:r>
            <a:endParaRPr lang="en-US" sz="1000" dirty="0"/>
          </a:p>
        </p:txBody>
      </p:sp>
      <p:sp>
        <p:nvSpPr>
          <p:cNvPr id="22" name="Text 20"/>
          <p:cNvSpPr/>
          <p:nvPr/>
        </p:nvSpPr>
        <p:spPr>
          <a:xfrm>
            <a:off x="11612880" y="6510528"/>
            <a:ext cx="45720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4</a:t>
            </a:r>
            <a:endParaRPr lang="en-US" sz="1000" dirty="0"/>
          </a:p>
        </p:txBody>
      </p:sp>
      <p:pic>
        <p:nvPicPr>
          <p:cNvPr id="24" name="Picture 23">
            <a:extLst>
              <a:ext uri="{FF2B5EF4-FFF2-40B4-BE49-F238E27FC236}">
                <a16:creationId xmlns:a16="http://schemas.microsoft.com/office/drawing/2014/main" id="{9364552E-9D63-59AB-35A0-523FF23CC937}"/>
              </a:ext>
            </a:extLst>
          </p:cNvPr>
          <p:cNvPicPr>
            <a:picLocks noChangeAspect="1"/>
          </p:cNvPicPr>
          <p:nvPr/>
        </p:nvPicPr>
        <p:blipFill>
          <a:blip r:embed="rId3"/>
          <a:srcRect b="35237"/>
          <a:stretch>
            <a:fillRect/>
          </a:stretch>
        </p:blipFill>
        <p:spPr>
          <a:xfrm>
            <a:off x="566928" y="3995928"/>
            <a:ext cx="5376672" cy="22677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84280" y="384048"/>
            <a:ext cx="502920" cy="502920"/>
          </a:xfrm>
          <a:prstGeom prst="ellipse">
            <a:avLst/>
          </a:prstGeom>
          <a:solidFill>
            <a:srgbClr val="1E2761"/>
          </a:solidFill>
          <a:ln/>
        </p:spPr>
      </p:sp>
      <p:sp>
        <p:nvSpPr>
          <p:cNvPr id="3" name="Text 1"/>
          <p:cNvSpPr/>
          <p:nvPr/>
        </p:nvSpPr>
        <p:spPr>
          <a:xfrm>
            <a:off x="11384280" y="38404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M</a:t>
            </a:r>
            <a:endParaRPr lang="en-US" sz="2000" dirty="0"/>
          </a:p>
        </p:txBody>
      </p:sp>
      <p:sp>
        <p:nvSpPr>
          <p:cNvPr id="4" name="Text 2"/>
          <p:cNvSpPr/>
          <p:nvPr/>
        </p:nvSpPr>
        <p:spPr>
          <a:xfrm>
            <a:off x="566928" y="128016"/>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MEASURE</a:t>
            </a:r>
            <a:endParaRPr lang="en-US" sz="1200" dirty="0"/>
          </a:p>
        </p:txBody>
      </p:sp>
      <p:sp>
        <p:nvSpPr>
          <p:cNvPr id="5" name="Text 3"/>
          <p:cNvSpPr/>
          <p:nvPr/>
        </p:nvSpPr>
        <p:spPr>
          <a:xfrm>
            <a:off x="548640" y="365760"/>
            <a:ext cx="10424160" cy="5943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Selecting the Vital Few Defects</a:t>
            </a:r>
            <a:endParaRPr lang="en-US" sz="3000" dirty="0"/>
          </a:p>
        </p:txBody>
      </p:sp>
      <p:sp>
        <p:nvSpPr>
          <p:cNvPr id="7" name="Shape 4"/>
          <p:cNvSpPr/>
          <p:nvPr/>
        </p:nvSpPr>
        <p:spPr>
          <a:xfrm>
            <a:off x="8583874" y="892348"/>
            <a:ext cx="2754686" cy="3437606"/>
          </a:xfrm>
          <a:prstGeom prst="roundRect">
            <a:avLst>
              <a:gd name="adj" fmla="val 1765"/>
            </a:avLst>
          </a:prstGeom>
          <a:solidFill>
            <a:srgbClr val="F3F6FC"/>
          </a:solidFill>
          <a:ln w="12700">
            <a:solidFill>
              <a:srgbClr val="DCE3F0"/>
            </a:solidFill>
            <a:prstDash val="solid"/>
          </a:ln>
        </p:spPr>
      </p:sp>
      <p:sp>
        <p:nvSpPr>
          <p:cNvPr id="8" name="Text 5"/>
          <p:cNvSpPr/>
          <p:nvPr/>
        </p:nvSpPr>
        <p:spPr>
          <a:xfrm>
            <a:off x="8779305" y="892347"/>
            <a:ext cx="2651760" cy="32004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Why These Two?</a:t>
            </a:r>
            <a:endParaRPr lang="en-US" sz="1450" dirty="0"/>
          </a:p>
        </p:txBody>
      </p:sp>
      <p:sp>
        <p:nvSpPr>
          <p:cNvPr id="9" name="Text 6"/>
          <p:cNvSpPr/>
          <p:nvPr/>
        </p:nvSpPr>
        <p:spPr>
          <a:xfrm>
            <a:off x="8686800" y="1333834"/>
            <a:ext cx="2651760" cy="1737360"/>
          </a:xfrm>
          <a:prstGeom prst="rect">
            <a:avLst/>
          </a:prstGeom>
          <a:noFill/>
          <a:ln/>
        </p:spPr>
        <p:txBody>
          <a:bodyPr wrap="square" lIns="0" tIns="0" rIns="0" bIns="0" rtlCol="0" anchor="t"/>
          <a:lstStyle/>
          <a:p>
            <a:pPr marL="0" indent="0">
              <a:lnSpc>
                <a:spcPct val="120000"/>
              </a:lnSpc>
              <a:buNone/>
            </a:pPr>
            <a:r>
              <a:rPr lang="en-US" sz="1200" dirty="0">
                <a:solidFill>
                  <a:srgbClr val="1F2430"/>
                </a:solidFill>
                <a:latin typeface="Calibri" pitchFamily="34" charset="0"/>
                <a:ea typeface="Calibri" pitchFamily="34" charset="-122"/>
                <a:cs typeface="Calibri" pitchFamily="34" charset="-120"/>
              </a:rPr>
              <a:t>Of 27 defect categories (2,785 rejections / 1.72M units in May 2026), Misfeed and Setting are handling errors. Flange Short (308) and Crack (300) are the top process-quality defects - both traceable to press/die/material causes a Six Sigma project can act on.</a:t>
            </a:r>
            <a:endParaRPr lang="en-US" sz="1200" dirty="0"/>
          </a:p>
        </p:txBody>
      </p:sp>
      <p:sp>
        <p:nvSpPr>
          <p:cNvPr id="10" name="Shape 7"/>
          <p:cNvSpPr/>
          <p:nvPr/>
        </p:nvSpPr>
        <p:spPr>
          <a:xfrm>
            <a:off x="8732520" y="2890948"/>
            <a:ext cx="2651760" cy="0"/>
          </a:xfrm>
          <a:prstGeom prst="line">
            <a:avLst/>
          </a:prstGeom>
          <a:noFill/>
          <a:ln w="12700">
            <a:solidFill>
              <a:srgbClr val="C7D1E3"/>
            </a:solidFill>
            <a:prstDash val="solid"/>
          </a:ln>
        </p:spPr>
      </p:sp>
      <p:sp>
        <p:nvSpPr>
          <p:cNvPr id="11" name="Text 8"/>
          <p:cNvSpPr/>
          <p:nvPr/>
        </p:nvSpPr>
        <p:spPr>
          <a:xfrm>
            <a:off x="8732520" y="3001326"/>
            <a:ext cx="1280160" cy="502920"/>
          </a:xfrm>
          <a:prstGeom prst="rect">
            <a:avLst/>
          </a:prstGeom>
          <a:noFill/>
          <a:ln/>
        </p:spPr>
        <p:txBody>
          <a:bodyPr wrap="square" lIns="0" tIns="0" rIns="0" bIns="0" rtlCol="0" anchor="ctr"/>
          <a:lstStyle/>
          <a:p>
            <a:pPr marL="0" indent="0">
              <a:buNone/>
            </a:pPr>
            <a:r>
              <a:rPr lang="en-US" sz="2600" b="1" dirty="0">
                <a:solidFill>
                  <a:srgbClr val="C0392B"/>
                </a:solidFill>
                <a:latin typeface="Cambria" pitchFamily="34" charset="0"/>
                <a:ea typeface="Cambria" pitchFamily="34" charset="-122"/>
                <a:cs typeface="Cambria" pitchFamily="34" charset="-120"/>
              </a:rPr>
              <a:t>300</a:t>
            </a:r>
            <a:endParaRPr lang="en-US" sz="2600" dirty="0"/>
          </a:p>
        </p:txBody>
      </p:sp>
      <p:sp>
        <p:nvSpPr>
          <p:cNvPr id="12" name="Text 9"/>
          <p:cNvSpPr/>
          <p:nvPr/>
        </p:nvSpPr>
        <p:spPr>
          <a:xfrm>
            <a:off x="8778240" y="3485478"/>
            <a:ext cx="128016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Crack units</a:t>
            </a:r>
            <a:endParaRPr lang="en-US" sz="1100" dirty="0"/>
          </a:p>
        </p:txBody>
      </p:sp>
      <p:sp>
        <p:nvSpPr>
          <p:cNvPr id="13" name="Text 10"/>
          <p:cNvSpPr/>
          <p:nvPr/>
        </p:nvSpPr>
        <p:spPr>
          <a:xfrm>
            <a:off x="10259118" y="2982558"/>
            <a:ext cx="1280160" cy="502920"/>
          </a:xfrm>
          <a:prstGeom prst="rect">
            <a:avLst/>
          </a:prstGeom>
          <a:noFill/>
          <a:ln/>
        </p:spPr>
        <p:txBody>
          <a:bodyPr wrap="square" lIns="0" tIns="0" rIns="0" bIns="0"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308</a:t>
            </a:r>
            <a:endParaRPr lang="en-US" sz="2600" dirty="0"/>
          </a:p>
        </p:txBody>
      </p:sp>
      <p:sp>
        <p:nvSpPr>
          <p:cNvPr id="14" name="Text 11"/>
          <p:cNvSpPr/>
          <p:nvPr/>
        </p:nvSpPr>
        <p:spPr>
          <a:xfrm>
            <a:off x="10259118" y="3527134"/>
            <a:ext cx="128016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Flange Short units</a:t>
            </a:r>
            <a:endParaRPr lang="en-US" sz="1050" dirty="0"/>
          </a:p>
        </p:txBody>
      </p:sp>
      <p:sp>
        <p:nvSpPr>
          <p:cNvPr id="15" name="Text 12"/>
          <p:cNvSpPr/>
          <p:nvPr/>
        </p:nvSpPr>
        <p:spPr>
          <a:xfrm>
            <a:off x="8778240" y="3802829"/>
            <a:ext cx="2651760" cy="274320"/>
          </a:xfrm>
          <a:prstGeom prst="rect">
            <a:avLst/>
          </a:prstGeom>
          <a:noFill/>
          <a:ln/>
        </p:spPr>
        <p:txBody>
          <a:bodyPr wrap="square" lIns="0" tIns="0" rIns="0" bIns="0" rtlCol="0" anchor="ctr"/>
          <a:lstStyle/>
          <a:p>
            <a:pPr marL="0" indent="0">
              <a:buNone/>
            </a:pPr>
            <a:r>
              <a:rPr lang="en-US" sz="1000" i="1" dirty="0">
                <a:solidFill>
                  <a:srgbClr val="5B6472"/>
                </a:solidFill>
                <a:latin typeface="Calibri" pitchFamily="34" charset="0"/>
                <a:ea typeface="Calibri" pitchFamily="34" charset="-122"/>
                <a:cs typeface="Calibri" pitchFamily="34" charset="-120"/>
              </a:rPr>
              <a:t>(31-day totals, all models)</a:t>
            </a:r>
            <a:endParaRPr lang="en-US" sz="1000" dirty="0"/>
          </a:p>
        </p:txBody>
      </p:sp>
      <p:sp>
        <p:nvSpPr>
          <p:cNvPr id="16" name="Shape 13"/>
          <p:cNvSpPr/>
          <p:nvPr/>
        </p:nvSpPr>
        <p:spPr>
          <a:xfrm>
            <a:off x="457200" y="4892040"/>
            <a:ext cx="7863840" cy="868680"/>
          </a:xfrm>
          <a:prstGeom prst="roundRect">
            <a:avLst>
              <a:gd name="adj" fmla="val 6316"/>
            </a:avLst>
          </a:prstGeom>
          <a:solidFill>
            <a:srgbClr val="F3F6FC"/>
          </a:solidFill>
          <a:ln w="12700">
            <a:solidFill>
              <a:srgbClr val="DCE3F0"/>
            </a:solidFill>
            <a:prstDash val="solid"/>
          </a:ln>
        </p:spPr>
      </p:sp>
      <p:sp>
        <p:nvSpPr>
          <p:cNvPr id="17" name="Text 14"/>
          <p:cNvSpPr/>
          <p:nvPr/>
        </p:nvSpPr>
        <p:spPr>
          <a:xfrm>
            <a:off x="685800" y="4751922"/>
            <a:ext cx="7452360" cy="1182714"/>
          </a:xfrm>
          <a:prstGeom prst="rect">
            <a:avLst/>
          </a:prstGeom>
          <a:noFill/>
          <a:ln/>
        </p:spPr>
        <p:txBody>
          <a:bodyPr wrap="square" lIns="0" tIns="0" rIns="0" bIns="0" rtlCol="0" anchor="ctr"/>
          <a:lstStyle/>
          <a:p>
            <a:pPr>
              <a:lnSpc>
                <a:spcPct val="120000"/>
              </a:lnSpc>
            </a:pPr>
            <a:r>
              <a:rPr lang="en-US" sz="1250" b="1" dirty="0">
                <a:solidFill>
                  <a:srgbClr val="1E2761"/>
                </a:solidFill>
                <a:latin typeface="Calibri" pitchFamily="34" charset="0"/>
                <a:ea typeface="Calibri" pitchFamily="34" charset="-122"/>
                <a:cs typeface="Calibri" pitchFamily="34" charset="-120"/>
              </a:rPr>
              <a:t>Scope Decision:  </a:t>
            </a:r>
            <a:r>
              <a:rPr lang="en-US" sz="1250" dirty="0">
                <a:solidFill>
                  <a:srgbClr val="1F2430"/>
                </a:solidFill>
                <a:ea typeface="Calibri" pitchFamily="34" charset="-122"/>
                <a:cs typeface="Calibri" pitchFamily="34" charset="-120"/>
              </a:rPr>
              <a:t>Misfeed (859) and Setting (285) are excluded because they are</a:t>
            </a:r>
            <a:r>
              <a:rPr lang="en-US" sz="1250" dirty="0"/>
              <a:t> pre process and handling defects; Crack and Flange Short are in process, forming defects. Ranking third and second by volume, they're also large enough that fixing them is worth the effort, but the selection criterion is defect mechanism, not just rank.</a:t>
            </a:r>
          </a:p>
        </p:txBody>
      </p:sp>
      <p:sp>
        <p:nvSpPr>
          <p:cNvPr id="18" name="Text 15"/>
          <p:cNvSpPr/>
          <p:nvPr/>
        </p:nvSpPr>
        <p:spPr>
          <a:xfrm>
            <a:off x="548640" y="6510528"/>
            <a:ext cx="5486400" cy="274320"/>
          </a:xfrm>
          <a:prstGeom prst="rect">
            <a:avLst/>
          </a:prstGeom>
          <a:noFill/>
          <a:ln/>
        </p:spPr>
        <p:txBody>
          <a:bodyPr wrap="square" lIns="0" tIns="0" rIns="0" bIns="0" rtlCol="0" anchor="ctr"/>
          <a:lstStyle/>
          <a:p>
            <a:pPr marL="0" indent="0">
              <a:buNone/>
            </a:pPr>
            <a:r>
              <a:rPr lang="en-US" sz="1000" dirty="0">
                <a:solidFill>
                  <a:srgbClr val="AAB2C0"/>
                </a:solidFill>
                <a:latin typeface="Calibri" pitchFamily="34" charset="0"/>
                <a:ea typeface="Calibri" pitchFamily="34" charset="-122"/>
                <a:cs typeface="Calibri" pitchFamily="34" charset="-120"/>
              </a:rPr>
              <a:t>SKH Metals — DMAIC Six Sigma Project</a:t>
            </a:r>
            <a:endParaRPr lang="en-US" sz="1000" dirty="0"/>
          </a:p>
        </p:txBody>
      </p:sp>
      <p:sp>
        <p:nvSpPr>
          <p:cNvPr id="19" name="Text 16"/>
          <p:cNvSpPr/>
          <p:nvPr/>
        </p:nvSpPr>
        <p:spPr>
          <a:xfrm>
            <a:off x="11612880" y="6510528"/>
            <a:ext cx="45720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5</a:t>
            </a:r>
            <a:endParaRPr lang="en-US" sz="1000" dirty="0"/>
          </a:p>
        </p:txBody>
      </p:sp>
      <p:graphicFrame>
        <p:nvGraphicFramePr>
          <p:cNvPr id="20" name="Chart 19">
            <a:extLst>
              <a:ext uri="{FF2B5EF4-FFF2-40B4-BE49-F238E27FC236}">
                <a16:creationId xmlns:a16="http://schemas.microsoft.com/office/drawing/2014/main" id="{2B7FC406-9746-8619-8620-6C057AC757EC}"/>
              </a:ext>
            </a:extLst>
          </p:cNvPr>
          <p:cNvGraphicFramePr>
            <a:graphicFrameLocks/>
          </p:cNvGraphicFramePr>
          <p:nvPr>
            <p:extLst>
              <p:ext uri="{D42A27DB-BD31-4B8C-83A1-F6EECF244321}">
                <p14:modId xmlns:p14="http://schemas.microsoft.com/office/powerpoint/2010/main" val="1204296259"/>
              </p:ext>
            </p:extLst>
          </p:nvPr>
        </p:nvGraphicFramePr>
        <p:xfrm>
          <a:off x="762000" y="1057496"/>
          <a:ext cx="6736080" cy="3666904"/>
        </p:xfrm>
        <a:graphic>
          <a:graphicData uri="http://schemas.openxmlformats.org/drawingml/2006/chart">
            <c:chart xmlns:c="http://schemas.openxmlformats.org/drawingml/2006/chart" xmlns:r="http://schemas.openxmlformats.org/officeDocument/2006/relationships" r:id="rId3"/>
          </a:graphicData>
        </a:graphic>
      </p:graphicFrame>
      <p:pic>
        <p:nvPicPr>
          <p:cNvPr id="3076" name="Picture 4" descr="Robot crushed Gurgaon worker to death - India Today">
            <a:extLst>
              <a:ext uri="{FF2B5EF4-FFF2-40B4-BE49-F238E27FC236}">
                <a16:creationId xmlns:a16="http://schemas.microsoft.com/office/drawing/2014/main" id="{2B7C930E-4D9D-27D4-EA21-B471CCDEAE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6760" y="4118805"/>
            <a:ext cx="3825240" cy="27391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84280" y="384048"/>
            <a:ext cx="502920" cy="502920"/>
          </a:xfrm>
          <a:prstGeom prst="ellipse">
            <a:avLst/>
          </a:prstGeom>
          <a:solidFill>
            <a:srgbClr val="1E2761"/>
          </a:solidFill>
          <a:ln/>
        </p:spPr>
      </p:sp>
      <p:sp>
        <p:nvSpPr>
          <p:cNvPr id="3" name="Text 1"/>
          <p:cNvSpPr/>
          <p:nvPr/>
        </p:nvSpPr>
        <p:spPr>
          <a:xfrm>
            <a:off x="11384280" y="38404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M</a:t>
            </a:r>
            <a:endParaRPr lang="en-US" sz="2000" dirty="0"/>
          </a:p>
        </p:txBody>
      </p:sp>
      <p:sp>
        <p:nvSpPr>
          <p:cNvPr id="4" name="Text 2"/>
          <p:cNvSpPr/>
          <p:nvPr/>
        </p:nvSpPr>
        <p:spPr>
          <a:xfrm>
            <a:off x="566928" y="128016"/>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MEASURE</a:t>
            </a:r>
            <a:endParaRPr lang="en-US" sz="1200" dirty="0"/>
          </a:p>
        </p:txBody>
      </p:sp>
      <p:sp>
        <p:nvSpPr>
          <p:cNvPr id="5" name="Text 3"/>
          <p:cNvSpPr/>
          <p:nvPr/>
        </p:nvSpPr>
        <p:spPr>
          <a:xfrm>
            <a:off x="548640" y="365760"/>
            <a:ext cx="10424160" cy="5943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Baseline Performance (Days 1–31)</a:t>
            </a:r>
            <a:endParaRPr lang="en-US" sz="3000" dirty="0"/>
          </a:p>
        </p:txBody>
      </p:sp>
      <p:sp>
        <p:nvSpPr>
          <p:cNvPr id="7" name="Shape 4"/>
          <p:cNvSpPr/>
          <p:nvPr/>
        </p:nvSpPr>
        <p:spPr>
          <a:xfrm>
            <a:off x="480060" y="4773258"/>
            <a:ext cx="7772400" cy="987462"/>
          </a:xfrm>
          <a:prstGeom prst="roundRect">
            <a:avLst>
              <a:gd name="adj" fmla="val 3158"/>
            </a:avLst>
          </a:prstGeom>
          <a:solidFill>
            <a:srgbClr val="141B4D"/>
          </a:solidFill>
          <a:ln/>
        </p:spPr>
      </p:sp>
      <p:sp>
        <p:nvSpPr>
          <p:cNvPr id="8" name="Text 5"/>
          <p:cNvSpPr/>
          <p:nvPr/>
        </p:nvSpPr>
        <p:spPr>
          <a:xfrm>
            <a:off x="783874" y="5004088"/>
            <a:ext cx="7223760" cy="1280160"/>
          </a:xfrm>
          <a:prstGeom prst="rect">
            <a:avLst/>
          </a:prstGeom>
          <a:noFill/>
          <a:ln/>
        </p:spPr>
        <p:txBody>
          <a:bodyPr wrap="square" lIns="0" tIns="0" rIns="0" bIns="0" rtlCol="0" anchor="t"/>
          <a:lstStyle/>
          <a:p>
            <a:pPr>
              <a:spcAft>
                <a:spcPts val="1000"/>
              </a:spcAft>
            </a:pPr>
            <a:r>
              <a:rPr lang="en-US" sz="1300" dirty="0">
                <a:solidFill>
                  <a:srgbClr val="CADCFC"/>
                </a:solidFill>
                <a:latin typeface="Consolas" pitchFamily="34" charset="0"/>
                <a:ea typeface="Consolas" pitchFamily="34" charset="-122"/>
                <a:cs typeface="Consolas" pitchFamily="34" charset="-120"/>
              </a:rPr>
              <a:t>Sigma Level = (Total Inspected – Total Rejected) ÷ Total Inspected = 99.8% </a:t>
            </a:r>
            <a:br>
              <a:rPr lang="en-US" sz="1300" dirty="0">
                <a:solidFill>
                  <a:srgbClr val="CADCFC"/>
                </a:solidFill>
                <a:latin typeface="Consolas" pitchFamily="34" charset="0"/>
                <a:ea typeface="Consolas" pitchFamily="34" charset="-122"/>
                <a:cs typeface="Consolas" pitchFamily="34" charset="-120"/>
              </a:rPr>
            </a:br>
            <a:r>
              <a:rPr lang="en-US" sz="1300" dirty="0">
                <a:solidFill>
                  <a:srgbClr val="CADCFC"/>
                </a:solidFill>
                <a:latin typeface="Consolas" pitchFamily="34" charset="0"/>
                <a:ea typeface="Consolas" pitchFamily="34" charset="-122"/>
                <a:cs typeface="Consolas" pitchFamily="34" charset="-120"/>
              </a:rPr>
              <a:t>( Now we will look for the value of 99.8% in </a:t>
            </a:r>
            <a:r>
              <a:rPr lang="en-US" sz="1300" b="1" dirty="0">
                <a:solidFill>
                  <a:srgbClr val="CADCFC"/>
                </a:solidFill>
                <a:latin typeface="Consolas" pitchFamily="34" charset="0"/>
                <a:ea typeface="Consolas" pitchFamily="34" charset="-122"/>
                <a:cs typeface="Consolas" pitchFamily="34" charset="-120"/>
              </a:rPr>
              <a:t>yield to sigma level table </a:t>
            </a:r>
            <a:r>
              <a:rPr lang="en-US" sz="1300" dirty="0">
                <a:solidFill>
                  <a:srgbClr val="CADCFC"/>
                </a:solidFill>
                <a:latin typeface="Consolas" pitchFamily="34" charset="0"/>
                <a:ea typeface="Consolas" pitchFamily="34" charset="-122"/>
                <a:cs typeface="Consolas" pitchFamily="34" charset="-120"/>
              </a:rPr>
              <a:t>)</a:t>
            </a:r>
            <a:endParaRPr lang="en-US" sz="1300" dirty="0"/>
          </a:p>
        </p:txBody>
      </p:sp>
      <p:sp>
        <p:nvSpPr>
          <p:cNvPr id="9" name="Shape 6"/>
          <p:cNvSpPr/>
          <p:nvPr/>
        </p:nvSpPr>
        <p:spPr>
          <a:xfrm>
            <a:off x="7986253" y="1371600"/>
            <a:ext cx="3108960" cy="4572000"/>
          </a:xfrm>
          <a:prstGeom prst="roundRect">
            <a:avLst>
              <a:gd name="adj" fmla="val 1765"/>
            </a:avLst>
          </a:prstGeom>
          <a:solidFill>
            <a:srgbClr val="F3F6FC"/>
          </a:solidFill>
          <a:ln w="12700">
            <a:solidFill>
              <a:srgbClr val="DCE3F0"/>
            </a:solidFill>
            <a:prstDash val="solid"/>
          </a:ln>
        </p:spPr>
      </p:sp>
      <p:sp>
        <p:nvSpPr>
          <p:cNvPr id="10" name="Text 7"/>
          <p:cNvSpPr/>
          <p:nvPr/>
        </p:nvSpPr>
        <p:spPr>
          <a:xfrm>
            <a:off x="8778240" y="1371600"/>
            <a:ext cx="2651760" cy="5486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Process Not Yet Stable</a:t>
            </a:r>
            <a:endParaRPr lang="en-US" sz="1400" dirty="0"/>
          </a:p>
        </p:txBody>
      </p:sp>
      <p:sp>
        <p:nvSpPr>
          <p:cNvPr id="11" name="Text 8"/>
          <p:cNvSpPr/>
          <p:nvPr/>
        </p:nvSpPr>
        <p:spPr>
          <a:xfrm>
            <a:off x="8778240" y="1965960"/>
            <a:ext cx="2651760" cy="1554480"/>
          </a:xfrm>
          <a:prstGeom prst="rect">
            <a:avLst/>
          </a:prstGeom>
          <a:noFill/>
          <a:ln/>
        </p:spPr>
        <p:txBody>
          <a:bodyPr wrap="square" lIns="0" tIns="0" rIns="0" bIns="0" rtlCol="0" anchor="t"/>
          <a:lstStyle/>
          <a:p>
            <a:pPr marL="0" indent="0">
              <a:lnSpc>
                <a:spcPct val="120000"/>
              </a:lnSpc>
              <a:buNone/>
            </a:pPr>
            <a:r>
              <a:rPr lang="en-US" sz="1200" dirty="0">
                <a:solidFill>
                  <a:srgbClr val="1F2430"/>
                </a:solidFill>
                <a:latin typeface="Calibri" pitchFamily="34" charset="0"/>
                <a:ea typeface="Calibri" pitchFamily="34" charset="-122"/>
                <a:cs typeface="Calibri" pitchFamily="34" charset="-120"/>
              </a:rPr>
              <a:t>UCL/LCL vary daily with sample size. 6 of 31 days (2, 5, 13, 15,17,23) fall outside the control limits - special-cause variation confirms root-cause analysis is needed, not just tighter monitoring.</a:t>
            </a:r>
            <a:endParaRPr lang="en-US" sz="1200" dirty="0"/>
          </a:p>
        </p:txBody>
      </p:sp>
      <p:sp>
        <p:nvSpPr>
          <p:cNvPr id="12" name="Shape 9"/>
          <p:cNvSpPr/>
          <p:nvPr/>
        </p:nvSpPr>
        <p:spPr>
          <a:xfrm>
            <a:off x="8778240" y="3267635"/>
            <a:ext cx="2651760" cy="0"/>
          </a:xfrm>
          <a:prstGeom prst="line">
            <a:avLst/>
          </a:prstGeom>
          <a:noFill/>
          <a:ln w="12700">
            <a:solidFill>
              <a:srgbClr val="C7D1E3"/>
            </a:solidFill>
            <a:prstDash val="solid"/>
          </a:ln>
        </p:spPr>
      </p:sp>
      <p:sp>
        <p:nvSpPr>
          <p:cNvPr id="13" name="Text 10"/>
          <p:cNvSpPr/>
          <p:nvPr/>
        </p:nvSpPr>
        <p:spPr>
          <a:xfrm>
            <a:off x="8778240" y="3231765"/>
            <a:ext cx="2651760" cy="640080"/>
          </a:xfrm>
          <a:prstGeom prst="rect">
            <a:avLst/>
          </a:prstGeom>
          <a:noFill/>
          <a:ln/>
        </p:spPr>
        <p:txBody>
          <a:bodyPr wrap="square" lIns="0" tIns="0" rIns="0" bIns="0" rtlCol="0" anchor="ctr"/>
          <a:lstStyle/>
          <a:p>
            <a:pPr marL="0" indent="0">
              <a:buNone/>
            </a:pPr>
            <a:r>
              <a:rPr lang="en-US" sz="3200" b="1" dirty="0">
                <a:solidFill>
                  <a:srgbClr val="1C7293"/>
                </a:solidFill>
                <a:latin typeface="Cambria" pitchFamily="34" charset="0"/>
                <a:ea typeface="Cambria" pitchFamily="34" charset="-122"/>
                <a:cs typeface="Cambria" pitchFamily="34" charset="-120"/>
              </a:rPr>
              <a:t>4.50σ</a:t>
            </a:r>
            <a:endParaRPr lang="en-US" sz="3200" dirty="0"/>
          </a:p>
        </p:txBody>
      </p:sp>
      <p:sp>
        <p:nvSpPr>
          <p:cNvPr id="14" name="Text 11"/>
          <p:cNvSpPr/>
          <p:nvPr/>
        </p:nvSpPr>
        <p:spPr>
          <a:xfrm>
            <a:off x="8778240" y="3794760"/>
            <a:ext cx="2651760" cy="274320"/>
          </a:xfrm>
          <a:prstGeom prst="rect">
            <a:avLst/>
          </a:prstGeom>
          <a:noFill/>
          <a:ln/>
        </p:spPr>
        <p:txBody>
          <a:bodyPr wrap="square" lIns="0" tIns="0" rIns="0" bIns="0" rtlCol="0" anchor="ctr"/>
          <a:lstStyle/>
          <a:p>
            <a:pPr marL="0" indent="0">
              <a:buNone/>
            </a:pPr>
            <a:r>
              <a:rPr lang="en-US" sz="1150" dirty="0">
                <a:solidFill>
                  <a:srgbClr val="5B6472"/>
                </a:solidFill>
                <a:latin typeface="Calibri" pitchFamily="34" charset="0"/>
                <a:ea typeface="Calibri" pitchFamily="34" charset="-122"/>
                <a:cs typeface="Calibri" pitchFamily="34" charset="-120"/>
              </a:rPr>
              <a:t>Baseline Sigma Level</a:t>
            </a:r>
            <a:endParaRPr lang="en-US" sz="1150" dirty="0"/>
          </a:p>
        </p:txBody>
      </p:sp>
      <p:sp>
        <p:nvSpPr>
          <p:cNvPr id="15" name="Text 12"/>
          <p:cNvSpPr/>
          <p:nvPr/>
        </p:nvSpPr>
        <p:spPr>
          <a:xfrm>
            <a:off x="548640" y="6510528"/>
            <a:ext cx="5486400" cy="274320"/>
          </a:xfrm>
          <a:prstGeom prst="rect">
            <a:avLst/>
          </a:prstGeom>
          <a:noFill/>
          <a:ln/>
        </p:spPr>
        <p:txBody>
          <a:bodyPr wrap="square" lIns="0" tIns="0" rIns="0" bIns="0" rtlCol="0" anchor="ctr"/>
          <a:lstStyle/>
          <a:p>
            <a:pPr marL="0" indent="0">
              <a:buNone/>
            </a:pPr>
            <a:r>
              <a:rPr lang="en-US" sz="1000" dirty="0">
                <a:solidFill>
                  <a:srgbClr val="AAB2C0"/>
                </a:solidFill>
                <a:latin typeface="Calibri" pitchFamily="34" charset="0"/>
                <a:ea typeface="Calibri" pitchFamily="34" charset="-122"/>
                <a:cs typeface="Calibri" pitchFamily="34" charset="-120"/>
              </a:rPr>
              <a:t>SKH Metals — DMAIC Six Sigma Project</a:t>
            </a:r>
            <a:endParaRPr lang="en-US" sz="1000" dirty="0"/>
          </a:p>
        </p:txBody>
      </p:sp>
      <p:sp>
        <p:nvSpPr>
          <p:cNvPr id="16" name="Text 13"/>
          <p:cNvSpPr/>
          <p:nvPr/>
        </p:nvSpPr>
        <p:spPr>
          <a:xfrm>
            <a:off x="11612880" y="6510528"/>
            <a:ext cx="45720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6</a:t>
            </a:r>
            <a:endParaRPr lang="en-US" sz="1000" dirty="0"/>
          </a:p>
        </p:txBody>
      </p:sp>
      <p:graphicFrame>
        <p:nvGraphicFramePr>
          <p:cNvPr id="6" name="Chart 5">
            <a:extLst>
              <a:ext uri="{FF2B5EF4-FFF2-40B4-BE49-F238E27FC236}">
                <a16:creationId xmlns:a16="http://schemas.microsoft.com/office/drawing/2014/main" id="{B6A38D89-02B0-4155-8584-9B3A0683F915}"/>
              </a:ext>
            </a:extLst>
          </p:cNvPr>
          <p:cNvGraphicFramePr>
            <a:graphicFrameLocks/>
          </p:cNvGraphicFramePr>
          <p:nvPr>
            <p:extLst>
              <p:ext uri="{D42A27DB-BD31-4B8C-83A1-F6EECF244321}">
                <p14:modId xmlns:p14="http://schemas.microsoft.com/office/powerpoint/2010/main" val="3251773297"/>
              </p:ext>
            </p:extLst>
          </p:nvPr>
        </p:nvGraphicFramePr>
        <p:xfrm>
          <a:off x="548639" y="908573"/>
          <a:ext cx="7680961" cy="3638405"/>
        </p:xfrm>
        <a:graphic>
          <a:graphicData uri="http://schemas.openxmlformats.org/drawingml/2006/chart">
            <c:chart xmlns:c="http://schemas.openxmlformats.org/drawingml/2006/chart" xmlns:r="http://schemas.openxmlformats.org/officeDocument/2006/relationships" r:id="rId3"/>
          </a:graphicData>
        </a:graphic>
      </p:graphicFrame>
      <p:pic>
        <p:nvPicPr>
          <p:cNvPr id="1028" name="Picture 4" descr="Die Clearance - Mate Precision Technologies">
            <a:extLst>
              <a:ext uri="{FF2B5EF4-FFF2-40B4-BE49-F238E27FC236}">
                <a16:creationId xmlns:a16="http://schemas.microsoft.com/office/drawing/2014/main" id="{81D715F4-FFB5-F060-262C-7DB05B6BC5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7634" y="4146165"/>
            <a:ext cx="3079466" cy="2621717"/>
          </a:xfrm>
          <a:prstGeom prst="rect">
            <a:avLst/>
          </a:prstGeom>
          <a:noFill/>
          <a:ln>
            <a:solidFill>
              <a:srgbClr val="002060"/>
            </a:solidFill>
          </a:ln>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67EF1A51-763F-757C-D277-623006A48B90}"/>
              </a:ext>
            </a:extLst>
          </p:cNvPr>
          <p:cNvSpPr txBox="1"/>
          <p:nvPr/>
        </p:nvSpPr>
        <p:spPr>
          <a:xfrm>
            <a:off x="645459" y="6149788"/>
            <a:ext cx="1084729" cy="307777"/>
          </a:xfrm>
          <a:prstGeom prst="rect">
            <a:avLst/>
          </a:prstGeom>
          <a:noFill/>
        </p:spPr>
        <p:txBody>
          <a:bodyPr wrap="square" rtlCol="0">
            <a:spAutoFit/>
          </a:bodyPr>
          <a:lstStyle/>
          <a:p>
            <a:r>
              <a:rPr lang="en-US" sz="1400" dirty="0">
                <a:hlinkClick r:id="rId5"/>
              </a:rPr>
              <a:t>Excel Link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84280" y="384048"/>
            <a:ext cx="502920" cy="502920"/>
          </a:xfrm>
          <a:prstGeom prst="ellipse">
            <a:avLst/>
          </a:prstGeom>
          <a:solidFill>
            <a:srgbClr val="1E2761"/>
          </a:solidFill>
          <a:ln/>
        </p:spPr>
      </p:sp>
      <p:sp>
        <p:nvSpPr>
          <p:cNvPr id="3" name="Text 1"/>
          <p:cNvSpPr/>
          <p:nvPr/>
        </p:nvSpPr>
        <p:spPr>
          <a:xfrm>
            <a:off x="11384280" y="38404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4" name="Text 2"/>
          <p:cNvSpPr/>
          <p:nvPr/>
        </p:nvSpPr>
        <p:spPr>
          <a:xfrm>
            <a:off x="566928" y="128016"/>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ANALYSE</a:t>
            </a:r>
            <a:endParaRPr lang="en-US" sz="1200" dirty="0"/>
          </a:p>
        </p:txBody>
      </p:sp>
      <p:sp>
        <p:nvSpPr>
          <p:cNvPr id="5" name="Text 3"/>
          <p:cNvSpPr/>
          <p:nvPr/>
        </p:nvSpPr>
        <p:spPr>
          <a:xfrm>
            <a:off x="548640" y="365760"/>
            <a:ext cx="10424160" cy="5943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Root-Cause Diagrams (Fishbone / Ishikawa)</a:t>
            </a:r>
            <a:endParaRPr lang="en-US" sz="3000" dirty="0"/>
          </a:p>
        </p:txBody>
      </p:sp>
      <p:pic>
        <p:nvPicPr>
          <p:cNvPr id="6" name="Image 0" descr="charts/fishbone.png"/>
          <p:cNvPicPr>
            <a:picLocks noChangeAspect="1"/>
          </p:cNvPicPr>
          <p:nvPr/>
        </p:nvPicPr>
        <p:blipFill>
          <a:blip r:embed="rId3"/>
          <a:stretch>
            <a:fillRect/>
          </a:stretch>
        </p:blipFill>
        <p:spPr>
          <a:xfrm>
            <a:off x="533402" y="1197864"/>
            <a:ext cx="11247120" cy="5367528"/>
          </a:xfrm>
          <a:prstGeom prst="rect">
            <a:avLst/>
          </a:prstGeom>
        </p:spPr>
      </p:pic>
      <p:sp>
        <p:nvSpPr>
          <p:cNvPr id="7" name="Text 4"/>
          <p:cNvSpPr/>
          <p:nvPr/>
        </p:nvSpPr>
        <p:spPr>
          <a:xfrm>
            <a:off x="548640" y="6510528"/>
            <a:ext cx="5486400" cy="274320"/>
          </a:xfrm>
          <a:prstGeom prst="rect">
            <a:avLst/>
          </a:prstGeom>
          <a:noFill/>
          <a:ln/>
        </p:spPr>
        <p:txBody>
          <a:bodyPr wrap="square" lIns="0" tIns="0" rIns="0" bIns="0" rtlCol="0" anchor="ctr"/>
          <a:lstStyle/>
          <a:p>
            <a:pPr marL="0" indent="0">
              <a:buNone/>
            </a:pPr>
            <a:r>
              <a:rPr lang="en-US" sz="1000" dirty="0">
                <a:solidFill>
                  <a:srgbClr val="AAB2C0"/>
                </a:solidFill>
                <a:latin typeface="Calibri" pitchFamily="34" charset="0"/>
                <a:ea typeface="Calibri" pitchFamily="34" charset="-122"/>
                <a:cs typeface="Calibri" pitchFamily="34" charset="-120"/>
              </a:rPr>
              <a:t>SKH Metals — DMAIC Six Sigma Project</a:t>
            </a:r>
            <a:endParaRPr lang="en-US" sz="1000" dirty="0"/>
          </a:p>
        </p:txBody>
      </p:sp>
      <p:sp>
        <p:nvSpPr>
          <p:cNvPr id="8" name="Text 5"/>
          <p:cNvSpPr/>
          <p:nvPr/>
        </p:nvSpPr>
        <p:spPr>
          <a:xfrm>
            <a:off x="11612880" y="6510528"/>
            <a:ext cx="45720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84280" y="384048"/>
            <a:ext cx="502920" cy="502920"/>
          </a:xfrm>
          <a:prstGeom prst="ellipse">
            <a:avLst/>
          </a:prstGeom>
          <a:solidFill>
            <a:srgbClr val="1E2761"/>
          </a:solidFill>
          <a:ln/>
        </p:spPr>
      </p:sp>
      <p:sp>
        <p:nvSpPr>
          <p:cNvPr id="3" name="Text 1"/>
          <p:cNvSpPr/>
          <p:nvPr/>
        </p:nvSpPr>
        <p:spPr>
          <a:xfrm>
            <a:off x="11384280" y="38404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4" name="Text 2"/>
          <p:cNvSpPr/>
          <p:nvPr/>
        </p:nvSpPr>
        <p:spPr>
          <a:xfrm>
            <a:off x="566928" y="128016"/>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ANALYSE</a:t>
            </a:r>
            <a:endParaRPr lang="en-US" sz="1200" dirty="0"/>
          </a:p>
        </p:txBody>
      </p:sp>
      <p:sp>
        <p:nvSpPr>
          <p:cNvPr id="5" name="Text 3"/>
          <p:cNvSpPr/>
          <p:nvPr/>
        </p:nvSpPr>
        <p:spPr>
          <a:xfrm>
            <a:off x="548640" y="365760"/>
            <a:ext cx="10424160" cy="5943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Prioritising the Root Causes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0881360" cy="3401568"/>
        </p:xfrm>
        <a:graphic>
          <a:graphicData uri="http://schemas.openxmlformats.org/drawingml/2006/table">
            <a:tbl>
              <a:tblPr/>
              <a:tblGrid>
                <a:gridCol w="8229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566928">
                <a:tc>
                  <a:txBody>
                    <a:bodyPr/>
                    <a:lstStyle/>
                    <a:p>
                      <a:pPr marL="0" indent="0" algn="ctr">
                        <a:buNone/>
                      </a:pPr>
                      <a:r>
                        <a:rPr lang="en-US" sz="1300" b="1" dirty="0">
                          <a:solidFill>
                            <a:srgbClr val="FFFFFF"/>
                          </a:solidFill>
                        </a:rPr>
                        <a:t>Rank</a:t>
                      </a:r>
                      <a:endParaRPr lang="en-US" sz="130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Root Cause</a:t>
                      </a:r>
                      <a:endParaRPr lang="en-US" sz="130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6M Category</a:t>
                      </a:r>
                      <a:endParaRPr lang="en-US" sz="130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Linked Defect</a:t>
                      </a:r>
                      <a:endParaRPr lang="en-US" sz="130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Priority</a:t>
                      </a:r>
                      <a:endParaRPr lang="en-US" sz="130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66928">
                <a:tc>
                  <a:txBody>
                    <a:bodyPr/>
                    <a:lstStyle/>
                    <a:p>
                      <a:pPr marL="0" indent="0" algn="ctr">
                        <a:buNone/>
                      </a:pPr>
                      <a:r>
                        <a:rPr lang="en-US" sz="1250" dirty="0">
                          <a:solidFill>
                            <a:srgbClr val="1F2430"/>
                          </a:solidFill>
                        </a:rPr>
                        <a:t>1</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Die / punch wear and clearance drift</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Machine</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Crack + Flange Short</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430"/>
                          </a:solidFill>
                        </a:rPr>
                        <a:t>9</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en-US" sz="1250" dirty="0">
                          <a:solidFill>
                            <a:srgbClr val="1F2430"/>
                          </a:solidFill>
                        </a:rPr>
                        <a:t>2</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250" dirty="0">
                          <a:solidFill>
                            <a:srgbClr val="1F2430"/>
                          </a:solidFill>
                        </a:rPr>
                        <a:t>Coil hardness / thickness variation from supplier</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250" dirty="0">
                          <a:solidFill>
                            <a:srgbClr val="1F2430"/>
                          </a:solidFill>
                        </a:rPr>
                        <a:t>Material</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250" dirty="0">
                          <a:solidFill>
                            <a:srgbClr val="1F2430"/>
                          </a:solidFill>
                        </a:rPr>
                        <a:t>Crack + Flange Short</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ctr">
                        <a:buNone/>
                      </a:pPr>
                      <a:r>
                        <a:rPr lang="en-US" sz="1250" dirty="0">
                          <a:solidFill>
                            <a:srgbClr val="1F2430"/>
                          </a:solidFill>
                        </a:rPr>
                        <a:t>8</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extLst>
                  <a:ext uri="{0D108BD9-81ED-4DB2-BD59-A6C34878D82A}">
                    <a16:rowId xmlns:a16="http://schemas.microsoft.com/office/drawing/2014/main" val="10002"/>
                  </a:ext>
                </a:extLst>
              </a:tr>
              <a:tr h="566928">
                <a:tc>
                  <a:txBody>
                    <a:bodyPr/>
                    <a:lstStyle/>
                    <a:p>
                      <a:pPr marL="0" indent="0" algn="ctr">
                        <a:buNone/>
                      </a:pPr>
                      <a:r>
                        <a:rPr lang="en-US" sz="1250" dirty="0">
                          <a:solidFill>
                            <a:srgbClr val="1F2430"/>
                          </a:solidFill>
                        </a:rPr>
                        <a:t>3</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Inconsistent operator die-setting</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Manpower</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Flange Short</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430"/>
                          </a:solidFill>
                        </a:rPr>
                        <a:t>7</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ctr">
                        <a:buNone/>
                      </a:pPr>
                      <a:r>
                        <a:rPr lang="en-US" sz="1250" dirty="0">
                          <a:solidFill>
                            <a:srgbClr val="1F2430"/>
                          </a:solidFill>
                        </a:rPr>
                        <a:t>3</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250" dirty="0">
                          <a:solidFill>
                            <a:srgbClr val="1F2430"/>
                          </a:solidFill>
                        </a:rPr>
                        <a:t>Lack of standard SOP &amp; in-process SPC</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250" dirty="0">
                          <a:solidFill>
                            <a:srgbClr val="1F2430"/>
                          </a:solidFill>
                        </a:rPr>
                        <a:t>Method / Meas.</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250" dirty="0">
                          <a:solidFill>
                            <a:srgbClr val="1F2430"/>
                          </a:solidFill>
                        </a:rPr>
                        <a:t>Crack</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ctr">
                        <a:buNone/>
                      </a:pPr>
                      <a:r>
                        <a:rPr lang="en-US" sz="1250" dirty="0">
                          <a:solidFill>
                            <a:srgbClr val="1F2430"/>
                          </a:solidFill>
                        </a:rPr>
                        <a:t>7</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extLst>
                  <a:ext uri="{0D108BD9-81ED-4DB2-BD59-A6C34878D82A}">
                    <a16:rowId xmlns:a16="http://schemas.microsoft.com/office/drawing/2014/main" val="10004"/>
                  </a:ext>
                </a:extLst>
              </a:tr>
              <a:tr h="566928">
                <a:tc>
                  <a:txBody>
                    <a:bodyPr/>
                    <a:lstStyle/>
                    <a:p>
                      <a:pPr marL="0" indent="0" algn="ctr">
                        <a:buNone/>
                      </a:pPr>
                      <a:r>
                        <a:rPr lang="en-US" sz="1250" dirty="0">
                          <a:solidFill>
                            <a:srgbClr val="1F2430"/>
                          </a:solidFill>
                        </a:rPr>
                        <a:t>5</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Inadequate preventive maintenance schedule</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Machine</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Crack</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430"/>
                          </a:solidFill>
                        </a:rPr>
                        <a:t>6</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48640" y="4892040"/>
            <a:ext cx="11064240" cy="1234440"/>
          </a:xfrm>
          <a:prstGeom prst="roundRect">
            <a:avLst>
              <a:gd name="adj" fmla="val 4444"/>
            </a:avLst>
          </a:prstGeom>
          <a:solidFill>
            <a:srgbClr val="F3F6FC"/>
          </a:solidFill>
          <a:ln w="12700">
            <a:solidFill>
              <a:srgbClr val="DCE3F0"/>
            </a:solidFill>
            <a:prstDash val="solid"/>
          </a:ln>
        </p:spPr>
      </p:sp>
      <p:sp>
        <p:nvSpPr>
          <p:cNvPr id="8" name="Text 5"/>
          <p:cNvSpPr/>
          <p:nvPr/>
        </p:nvSpPr>
        <p:spPr>
          <a:xfrm>
            <a:off x="822960" y="4892040"/>
            <a:ext cx="10515600" cy="1234440"/>
          </a:xfrm>
          <a:prstGeom prst="rect">
            <a:avLst/>
          </a:prstGeom>
          <a:noFill/>
          <a:ln/>
        </p:spPr>
        <p:txBody>
          <a:bodyPr wrap="square" lIns="0" tIns="0" rIns="0" bIns="0" rtlCol="0" anchor="ctr"/>
          <a:lstStyle/>
          <a:p>
            <a:pPr>
              <a:lnSpc>
                <a:spcPct val="125000"/>
              </a:lnSpc>
            </a:pPr>
            <a:r>
              <a:rPr lang="en-US" sz="1400" b="1" dirty="0">
                <a:solidFill>
                  <a:srgbClr val="1E2761"/>
                </a:solidFill>
                <a:latin typeface="Calibri" pitchFamily="34" charset="0"/>
                <a:ea typeface="Calibri" pitchFamily="34" charset="-122"/>
                <a:cs typeface="Calibri" pitchFamily="34" charset="-120"/>
              </a:rPr>
              <a:t>Key Insight: </a:t>
            </a:r>
            <a:r>
              <a:rPr lang="en-US" sz="1400" dirty="0">
                <a:latin typeface="+mj-lt"/>
              </a:rPr>
              <a:t>Each cause was scored on two dimensions before ranking: </a:t>
            </a:r>
            <a:r>
              <a:rPr lang="en-US" sz="1400" b="1" dirty="0">
                <a:latin typeface="+mj-lt"/>
              </a:rPr>
              <a:t>breadth of impact</a:t>
            </a:r>
            <a:r>
              <a:rPr lang="en-US" sz="1400" dirty="0">
                <a:latin typeface="+mj-lt"/>
              </a:rPr>
              <a:t> - whether the cause drives both Crack and Flange Short or only one - and </a:t>
            </a:r>
            <a:r>
              <a:rPr lang="en-US" sz="1400" b="1" dirty="0">
                <a:latin typeface="+mj-lt"/>
              </a:rPr>
              <a:t>frequency of occurrence</a:t>
            </a:r>
            <a:r>
              <a:rPr lang="en-US" sz="1400" dirty="0">
                <a:latin typeface="+mj-lt"/>
              </a:rPr>
              <a:t> — how consistently it appears across inspection days rather than as an isolated event.</a:t>
            </a:r>
            <a:br>
              <a:rPr lang="en-US" sz="1400" dirty="0">
                <a:latin typeface="+mj-lt"/>
              </a:rPr>
            </a:br>
            <a:r>
              <a:rPr lang="en-US" sz="1400" dirty="0">
                <a:solidFill>
                  <a:srgbClr val="1F2430"/>
                </a:solidFill>
                <a:latin typeface="+mj-lt"/>
                <a:ea typeface="Calibri" pitchFamily="34" charset="-122"/>
                <a:cs typeface="Calibri" pitchFamily="34" charset="-120"/>
              </a:rPr>
              <a:t>Die/punch wear and coil-material variation score highest and are common to both defects - they anchor the Improve-phase action plan, with operator-setup and SOP gaps as supporting fixes.</a:t>
            </a:r>
            <a:endParaRPr lang="en-US" sz="1400" dirty="0">
              <a:latin typeface="+mj-lt"/>
            </a:endParaRPr>
          </a:p>
        </p:txBody>
      </p:sp>
      <p:sp>
        <p:nvSpPr>
          <p:cNvPr id="6" name="Text 6"/>
          <p:cNvSpPr/>
          <p:nvPr/>
        </p:nvSpPr>
        <p:spPr>
          <a:xfrm>
            <a:off x="548640" y="6510528"/>
            <a:ext cx="5486400" cy="274320"/>
          </a:xfrm>
          <a:prstGeom prst="rect">
            <a:avLst/>
          </a:prstGeom>
          <a:noFill/>
          <a:ln/>
        </p:spPr>
        <p:txBody>
          <a:bodyPr wrap="square" lIns="0" tIns="0" rIns="0" bIns="0" rtlCol="0" anchor="ctr"/>
          <a:lstStyle/>
          <a:p>
            <a:pPr marL="0" indent="0">
              <a:buNone/>
            </a:pPr>
            <a:r>
              <a:rPr lang="en-US" sz="1000" dirty="0">
                <a:solidFill>
                  <a:srgbClr val="AAB2C0"/>
                </a:solidFill>
                <a:latin typeface="Calibri" pitchFamily="34" charset="0"/>
                <a:ea typeface="Calibri" pitchFamily="34" charset="-122"/>
                <a:cs typeface="Calibri" pitchFamily="34" charset="-120"/>
              </a:rPr>
              <a:t>SKH Metals — DMAIC Six Sigma Project</a:t>
            </a:r>
            <a:endParaRPr lang="en-US" sz="1000" dirty="0"/>
          </a:p>
        </p:txBody>
      </p:sp>
      <p:sp>
        <p:nvSpPr>
          <p:cNvPr id="10" name="Text 7"/>
          <p:cNvSpPr/>
          <p:nvPr/>
        </p:nvSpPr>
        <p:spPr>
          <a:xfrm>
            <a:off x="11612880" y="6510528"/>
            <a:ext cx="45720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84280" y="384048"/>
            <a:ext cx="502920" cy="502920"/>
          </a:xfrm>
          <a:prstGeom prst="ellipse">
            <a:avLst/>
          </a:prstGeom>
          <a:solidFill>
            <a:srgbClr val="1E2761"/>
          </a:solidFill>
          <a:ln/>
        </p:spPr>
      </p:sp>
      <p:sp>
        <p:nvSpPr>
          <p:cNvPr id="3" name="Text 1"/>
          <p:cNvSpPr/>
          <p:nvPr/>
        </p:nvSpPr>
        <p:spPr>
          <a:xfrm>
            <a:off x="11384280" y="38404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I</a:t>
            </a:r>
            <a:endParaRPr lang="en-US" sz="2000" dirty="0"/>
          </a:p>
        </p:txBody>
      </p:sp>
      <p:sp>
        <p:nvSpPr>
          <p:cNvPr id="4" name="Text 2"/>
          <p:cNvSpPr/>
          <p:nvPr/>
        </p:nvSpPr>
        <p:spPr>
          <a:xfrm>
            <a:off x="566928" y="128016"/>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IMPROVE</a:t>
            </a:r>
            <a:endParaRPr lang="en-US" sz="1200" dirty="0"/>
          </a:p>
        </p:txBody>
      </p:sp>
      <p:sp>
        <p:nvSpPr>
          <p:cNvPr id="5" name="Text 3"/>
          <p:cNvSpPr/>
          <p:nvPr/>
        </p:nvSpPr>
        <p:spPr>
          <a:xfrm>
            <a:off x="548640" y="365760"/>
            <a:ext cx="10424160" cy="5943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Corrective Actions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3401568"/>
        </p:xfrm>
        <a:graphic>
          <a:graphicData uri="http://schemas.openxmlformats.org/drawingml/2006/table">
            <a:tbl>
              <a:tblPr/>
              <a:tblGrid>
                <a:gridCol w="100584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566928">
                <a:tc>
                  <a:txBody>
                    <a:bodyPr/>
                    <a:lstStyle/>
                    <a:p>
                      <a:pPr marL="0" indent="0" algn="ctr">
                        <a:buNone/>
                      </a:pPr>
                      <a:r>
                        <a:rPr lang="en-US" sz="1300" b="1" dirty="0">
                          <a:solidFill>
                            <a:srgbClr val="FFFFFF"/>
                          </a:solidFill>
                        </a:rPr>
                        <a:t>Code</a:t>
                      </a:r>
                      <a:endParaRPr lang="en-US" sz="130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Corrective Action</a:t>
                      </a:r>
                      <a:endParaRPr lang="en-US" sz="130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Root Cause</a:t>
                      </a:r>
                      <a:endParaRPr lang="en-US" sz="130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Impact</a:t>
                      </a:r>
                      <a:endParaRPr lang="en-US" sz="130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rPr>
                        <a:t>Effort</a:t>
                      </a:r>
                      <a:endParaRPr lang="en-US" sz="130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66928">
                <a:tc>
                  <a:txBody>
                    <a:bodyPr/>
                    <a:lstStyle/>
                    <a:p>
                      <a:pPr marL="0" indent="0" algn="ctr">
                        <a:buNone/>
                      </a:pPr>
                      <a:r>
                        <a:rPr lang="en-US" sz="1250" dirty="0">
                          <a:solidFill>
                            <a:srgbClr val="1F2430"/>
                          </a:solidFill>
                        </a:rPr>
                        <a:t>CM1</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Scheduled die/punch maintenance &amp; wear-tracking log</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RC1, RC5</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430"/>
                          </a:solidFill>
                        </a:rPr>
                        <a:t>8/10</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430"/>
                          </a:solidFill>
                        </a:rPr>
                        <a:t>3/10</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ctr">
                        <a:buNone/>
                      </a:pPr>
                      <a:r>
                        <a:rPr lang="en-US" sz="1250" dirty="0">
                          <a:solidFill>
                            <a:srgbClr val="1F2430"/>
                          </a:solidFill>
                        </a:rPr>
                        <a:t>CM2</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250" dirty="0">
                          <a:solidFill>
                            <a:srgbClr val="1F2430"/>
                          </a:solidFill>
                        </a:rPr>
                        <a:t>Tighten incoming coil hardness/thickness spec &amp; SPC with Tata Steel</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250" dirty="0">
                          <a:solidFill>
                            <a:srgbClr val="1F2430"/>
                          </a:solidFill>
                        </a:rPr>
                        <a:t>RC2</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ctr">
                        <a:buNone/>
                      </a:pPr>
                      <a:r>
                        <a:rPr lang="en-US" sz="1250" dirty="0">
                          <a:solidFill>
                            <a:srgbClr val="1F2430"/>
                          </a:solidFill>
                        </a:rPr>
                        <a:t>9/10</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ctr">
                        <a:buNone/>
                      </a:pPr>
                      <a:r>
                        <a:rPr lang="en-US" sz="1250" dirty="0">
                          <a:solidFill>
                            <a:srgbClr val="1F2430"/>
                          </a:solidFill>
                        </a:rPr>
                        <a:t>8/10</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extLst>
                  <a:ext uri="{0D108BD9-81ED-4DB2-BD59-A6C34878D82A}">
                    <a16:rowId xmlns:a16="http://schemas.microsoft.com/office/drawing/2014/main" val="10002"/>
                  </a:ext>
                </a:extLst>
              </a:tr>
              <a:tr h="566928">
                <a:tc>
                  <a:txBody>
                    <a:bodyPr/>
                    <a:lstStyle/>
                    <a:p>
                      <a:pPr marL="0" indent="0" algn="ctr">
                        <a:buNone/>
                      </a:pPr>
                      <a:r>
                        <a:rPr lang="en-US" sz="1250" dirty="0">
                          <a:solidFill>
                            <a:srgbClr val="1F2430"/>
                          </a:solidFill>
                        </a:rPr>
                        <a:t>CM3</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Standard die-setting SOP with pictorial work instructions</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RC3, RC4</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430"/>
                          </a:solidFill>
                        </a:rPr>
                        <a:t>7/10</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430"/>
                          </a:solidFill>
                        </a:rPr>
                        <a:t>2/10</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ctr">
                        <a:buNone/>
                      </a:pPr>
                      <a:r>
                        <a:rPr lang="en-US" sz="1250" dirty="0">
                          <a:solidFill>
                            <a:srgbClr val="1F2430"/>
                          </a:solidFill>
                        </a:rPr>
                        <a:t>CM4</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250" dirty="0">
                          <a:solidFill>
                            <a:srgbClr val="1F2430"/>
                          </a:solidFill>
                        </a:rPr>
                        <a:t>Digital press-force gauge / poka-yoke parameter monitoring</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250" dirty="0">
                          <a:solidFill>
                            <a:srgbClr val="1F2430"/>
                          </a:solidFill>
                        </a:rPr>
                        <a:t>RC1, RC4</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ctr">
                        <a:buNone/>
                      </a:pPr>
                      <a:r>
                        <a:rPr lang="en-US" sz="1250" dirty="0">
                          <a:solidFill>
                            <a:srgbClr val="1F2430"/>
                          </a:solidFill>
                        </a:rPr>
                        <a:t>8/10</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ctr">
                        <a:buNone/>
                      </a:pPr>
                      <a:r>
                        <a:rPr lang="en-US" sz="1250" dirty="0">
                          <a:solidFill>
                            <a:srgbClr val="1F2430"/>
                          </a:solidFill>
                        </a:rPr>
                        <a:t>7/10</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extLst>
                  <a:ext uri="{0D108BD9-81ED-4DB2-BD59-A6C34878D82A}">
                    <a16:rowId xmlns:a16="http://schemas.microsoft.com/office/drawing/2014/main" val="10004"/>
                  </a:ext>
                </a:extLst>
              </a:tr>
              <a:tr h="566928">
                <a:tc>
                  <a:txBody>
                    <a:bodyPr/>
                    <a:lstStyle/>
                    <a:p>
                      <a:pPr marL="0" indent="0" algn="ctr">
                        <a:buNone/>
                      </a:pPr>
                      <a:r>
                        <a:rPr lang="en-US" sz="1250" dirty="0">
                          <a:solidFill>
                            <a:srgbClr val="1F2430"/>
                          </a:solidFill>
                        </a:rPr>
                        <a:t>CM5</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Operator training &amp; certification on press set-up and gauge check</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F2430"/>
                          </a:solidFill>
                        </a:rPr>
                        <a:t>RC3</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430"/>
                          </a:solidFill>
                        </a:rPr>
                        <a:t>6/10</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430"/>
                          </a:solidFill>
                        </a:rPr>
                        <a:t>3/10</a:t>
                      </a:r>
                      <a:endParaRPr lang="en-US" sz="1250" dirty="0"/>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548640" y="5074920"/>
            <a:ext cx="11064240" cy="1051560"/>
          </a:xfrm>
          <a:prstGeom prst="rect">
            <a:avLst/>
          </a:prstGeom>
          <a:noFill/>
          <a:ln/>
        </p:spPr>
        <p:txBody>
          <a:bodyPr wrap="square" lIns="0" tIns="0" rIns="0" bIns="0" rtlCol="0" anchor="t"/>
          <a:lstStyle/>
          <a:p>
            <a:pPr marL="0" indent="0">
              <a:lnSpc>
                <a:spcPct val="120000"/>
              </a:lnSpc>
              <a:buNone/>
            </a:pPr>
            <a:r>
              <a:rPr lang="en-US" sz="1300" i="1" dirty="0">
                <a:solidFill>
                  <a:srgbClr val="5B6472"/>
                </a:solidFill>
                <a:latin typeface="Calibri" pitchFamily="34" charset="0"/>
                <a:ea typeface="Calibri" pitchFamily="34" charset="-122"/>
                <a:cs typeface="Calibri" pitchFamily="34" charset="-120"/>
              </a:rPr>
              <a:t>Lean sustaining tools: 5S at the die-setting workstation (Sort · Set in Order · Shine · Standardise · Sustain) removes setup variability behind RC3; a Value Stream Map of coil-receipt → forming → flanging → dispatch confirms CM1–CM5 remove rework loops rather than shift them downstream.</a:t>
            </a:r>
            <a:endParaRPr lang="en-US" sz="1300" dirty="0"/>
          </a:p>
        </p:txBody>
      </p:sp>
      <p:sp>
        <p:nvSpPr>
          <p:cNvPr id="8" name="Text 5"/>
          <p:cNvSpPr/>
          <p:nvPr/>
        </p:nvSpPr>
        <p:spPr>
          <a:xfrm>
            <a:off x="548640" y="6510528"/>
            <a:ext cx="5486400" cy="274320"/>
          </a:xfrm>
          <a:prstGeom prst="rect">
            <a:avLst/>
          </a:prstGeom>
          <a:noFill/>
          <a:ln/>
        </p:spPr>
        <p:txBody>
          <a:bodyPr wrap="square" lIns="0" tIns="0" rIns="0" bIns="0" rtlCol="0" anchor="ctr"/>
          <a:lstStyle/>
          <a:p>
            <a:pPr marL="0" indent="0">
              <a:buNone/>
            </a:pPr>
            <a:r>
              <a:rPr lang="en-US" sz="1000" dirty="0">
                <a:solidFill>
                  <a:srgbClr val="AAB2C0"/>
                </a:solidFill>
                <a:latin typeface="Calibri" pitchFamily="34" charset="0"/>
                <a:ea typeface="Calibri" pitchFamily="34" charset="-122"/>
                <a:cs typeface="Calibri" pitchFamily="34" charset="-120"/>
              </a:rPr>
              <a:t>SKH Metals — DMAIC Six Sigma Project</a:t>
            </a:r>
            <a:endParaRPr lang="en-US" sz="1000" dirty="0"/>
          </a:p>
        </p:txBody>
      </p:sp>
      <p:sp>
        <p:nvSpPr>
          <p:cNvPr id="9" name="Text 6"/>
          <p:cNvSpPr/>
          <p:nvPr/>
        </p:nvSpPr>
        <p:spPr>
          <a:xfrm>
            <a:off x="11612880" y="6510528"/>
            <a:ext cx="45720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84280" y="384048"/>
            <a:ext cx="502920" cy="502920"/>
          </a:xfrm>
          <a:prstGeom prst="ellipse">
            <a:avLst/>
          </a:prstGeom>
          <a:solidFill>
            <a:srgbClr val="1E2761"/>
          </a:solidFill>
          <a:ln/>
        </p:spPr>
      </p:sp>
      <p:sp>
        <p:nvSpPr>
          <p:cNvPr id="3" name="Text 1"/>
          <p:cNvSpPr/>
          <p:nvPr/>
        </p:nvSpPr>
        <p:spPr>
          <a:xfrm>
            <a:off x="11384280" y="38404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I</a:t>
            </a:r>
            <a:endParaRPr lang="en-US" sz="2000" dirty="0"/>
          </a:p>
        </p:txBody>
      </p:sp>
      <p:sp>
        <p:nvSpPr>
          <p:cNvPr id="4" name="Text 2"/>
          <p:cNvSpPr/>
          <p:nvPr/>
        </p:nvSpPr>
        <p:spPr>
          <a:xfrm>
            <a:off x="566928" y="128016"/>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IMPROVE</a:t>
            </a:r>
            <a:endParaRPr lang="en-US" sz="1200" dirty="0"/>
          </a:p>
        </p:txBody>
      </p:sp>
      <p:sp>
        <p:nvSpPr>
          <p:cNvPr id="5" name="Text 3"/>
          <p:cNvSpPr/>
          <p:nvPr/>
        </p:nvSpPr>
        <p:spPr>
          <a:xfrm>
            <a:off x="548640" y="365760"/>
            <a:ext cx="10424160" cy="5943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Prioritising Implementation</a:t>
            </a:r>
            <a:endParaRPr lang="en-US" sz="3000" dirty="0"/>
          </a:p>
        </p:txBody>
      </p:sp>
      <p:pic>
        <p:nvPicPr>
          <p:cNvPr id="6" name="Image 0" descr="charts/impact_effort.png"/>
          <p:cNvPicPr>
            <a:picLocks noChangeAspect="1"/>
          </p:cNvPicPr>
          <p:nvPr/>
        </p:nvPicPr>
        <p:blipFill>
          <a:blip r:embed="rId3"/>
          <a:stretch>
            <a:fillRect/>
          </a:stretch>
        </p:blipFill>
        <p:spPr>
          <a:xfrm>
            <a:off x="457200" y="1188720"/>
            <a:ext cx="6675120" cy="4700016"/>
          </a:xfrm>
          <a:prstGeom prst="rect">
            <a:avLst/>
          </a:prstGeom>
        </p:spPr>
      </p:pic>
      <p:sp>
        <p:nvSpPr>
          <p:cNvPr id="7" name="Shape 4"/>
          <p:cNvSpPr/>
          <p:nvPr/>
        </p:nvSpPr>
        <p:spPr>
          <a:xfrm>
            <a:off x="7406640" y="1188720"/>
            <a:ext cx="4251960" cy="4700016"/>
          </a:xfrm>
          <a:prstGeom prst="roundRect">
            <a:avLst>
              <a:gd name="adj" fmla="val 1290"/>
            </a:avLst>
          </a:prstGeom>
          <a:solidFill>
            <a:srgbClr val="F3F6FC"/>
          </a:solidFill>
          <a:ln w="12700">
            <a:solidFill>
              <a:srgbClr val="DCE3F0"/>
            </a:solidFill>
            <a:prstDash val="solid"/>
          </a:ln>
        </p:spPr>
      </p:sp>
      <p:sp>
        <p:nvSpPr>
          <p:cNvPr id="8" name="Text 5"/>
          <p:cNvSpPr/>
          <p:nvPr/>
        </p:nvSpPr>
        <p:spPr>
          <a:xfrm>
            <a:off x="7635240" y="1371600"/>
            <a:ext cx="379476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Implementation Sequence</a:t>
            </a:r>
            <a:endParaRPr lang="en-US" sz="1500" dirty="0"/>
          </a:p>
        </p:txBody>
      </p:sp>
      <p:sp>
        <p:nvSpPr>
          <p:cNvPr id="9" name="Text 6"/>
          <p:cNvSpPr/>
          <p:nvPr/>
        </p:nvSpPr>
        <p:spPr>
          <a:xfrm>
            <a:off x="7635240" y="1874520"/>
            <a:ext cx="3794760" cy="3840480"/>
          </a:xfrm>
          <a:prstGeom prst="rect">
            <a:avLst/>
          </a:prstGeom>
          <a:noFill/>
          <a:ln/>
        </p:spPr>
        <p:txBody>
          <a:bodyPr wrap="square" lIns="0" tIns="0" rIns="0" bIns="0" rtlCol="0" anchor="t"/>
          <a:lstStyle/>
          <a:p>
            <a:pPr marL="0" indent="0">
              <a:lnSpc>
                <a:spcPct val="120000"/>
              </a:lnSpc>
              <a:buNone/>
            </a:pPr>
            <a:r>
              <a:rPr lang="en-US" sz="1300" b="1" dirty="0">
                <a:solidFill>
                  <a:srgbClr val="1A6B2E"/>
                </a:solidFill>
                <a:latin typeface="Calibri" pitchFamily="34" charset="0"/>
                <a:ea typeface="Calibri" pitchFamily="34" charset="-122"/>
                <a:cs typeface="Calibri" pitchFamily="34" charset="-120"/>
              </a:rPr>
              <a:t>Trial 1 — Quick Wins (Weeks 1–3)</a:t>
            </a:r>
            <a:endParaRPr lang="en-US" sz="1300" dirty="0"/>
          </a:p>
          <a:p>
            <a:pPr marL="0" indent="0">
              <a:lnSpc>
                <a:spcPct val="120000"/>
              </a:lnSpc>
              <a:spcAft>
                <a:spcPts val="1400"/>
              </a:spcAft>
              <a:buNone/>
            </a:pPr>
            <a:r>
              <a:rPr lang="en-US" sz="1200" dirty="0">
                <a:solidFill>
                  <a:srgbClr val="1F2430"/>
                </a:solidFill>
                <a:latin typeface="Calibri" pitchFamily="34" charset="0"/>
                <a:ea typeface="Calibri" pitchFamily="34" charset="-122"/>
                <a:cs typeface="Calibri" pitchFamily="34" charset="-120"/>
              </a:rPr>
              <a:t>CM1, CM3, CM5: standard SOP, PM log, operator training. Low cost, existing resources.</a:t>
            </a:r>
            <a:endParaRPr lang="en-US" sz="1300" dirty="0"/>
          </a:p>
          <a:p>
            <a:pPr marL="0" indent="0">
              <a:lnSpc>
                <a:spcPct val="120000"/>
              </a:lnSpc>
              <a:buNone/>
            </a:pPr>
            <a:r>
              <a:rPr lang="en-US" sz="1300" b="1" dirty="0">
                <a:solidFill>
                  <a:srgbClr val="9C7A0C"/>
                </a:solidFill>
                <a:latin typeface="Calibri" pitchFamily="34" charset="0"/>
                <a:ea typeface="Calibri" pitchFamily="34" charset="-122"/>
                <a:cs typeface="Calibri" pitchFamily="34" charset="-120"/>
              </a:rPr>
              <a:t>Trial 2 — Major Projects (Weeks 4–9)</a:t>
            </a:r>
            <a:endParaRPr lang="en-US" sz="1300" dirty="0"/>
          </a:p>
          <a:p>
            <a:pPr marL="0" indent="0">
              <a:lnSpc>
                <a:spcPct val="120000"/>
              </a:lnSpc>
              <a:spcAft>
                <a:spcPts val="1400"/>
              </a:spcAft>
              <a:buNone/>
            </a:pPr>
            <a:r>
              <a:rPr lang="en-US" sz="1200" dirty="0">
                <a:solidFill>
                  <a:srgbClr val="1F2430"/>
                </a:solidFill>
                <a:latin typeface="Calibri" pitchFamily="34" charset="0"/>
                <a:ea typeface="Calibri" pitchFamily="34" charset="-122"/>
                <a:cs typeface="Calibri" pitchFamily="34" charset="-120"/>
              </a:rPr>
              <a:t>CM2, CM4: renegotiate Tata Steel material spec; pilot digital press-parameter monitoring on one line.</a:t>
            </a:r>
            <a:endParaRPr lang="en-US" sz="1300" dirty="0"/>
          </a:p>
          <a:p>
            <a:pPr marL="0" indent="0">
              <a:lnSpc>
                <a:spcPct val="120000"/>
              </a:lnSpc>
              <a:buNone/>
            </a:pPr>
            <a:r>
              <a:rPr lang="en-US" sz="1300" b="1" dirty="0">
                <a:solidFill>
                  <a:srgbClr val="1E2761"/>
                </a:solidFill>
                <a:latin typeface="Calibri" pitchFamily="34" charset="0"/>
                <a:ea typeface="Calibri" pitchFamily="34" charset="-122"/>
                <a:cs typeface="Calibri" pitchFamily="34" charset="-120"/>
              </a:rPr>
              <a:t>Expected Outcome</a:t>
            </a:r>
            <a:endParaRPr lang="en-US" sz="1300" dirty="0"/>
          </a:p>
          <a:p>
            <a:pPr marL="0" indent="0">
              <a:lnSpc>
                <a:spcPct val="120000"/>
              </a:lnSpc>
              <a:buNone/>
            </a:pPr>
            <a:r>
              <a:rPr lang="en-US" sz="1200" dirty="0">
                <a:solidFill>
                  <a:srgbClr val="1F2430"/>
                </a:solidFill>
                <a:latin typeface="Calibri" pitchFamily="34" charset="0"/>
                <a:ea typeface="Calibri" pitchFamily="34" charset="-122"/>
                <a:cs typeface="Calibri" pitchFamily="34" charset="-120"/>
              </a:rPr>
              <a:t>Sigma Level 4.50 → ~4.99</a:t>
            </a:r>
            <a:endParaRPr lang="en-US" sz="1300" dirty="0"/>
          </a:p>
        </p:txBody>
      </p:sp>
      <p:sp>
        <p:nvSpPr>
          <p:cNvPr id="10" name="Text 7"/>
          <p:cNvSpPr/>
          <p:nvPr/>
        </p:nvSpPr>
        <p:spPr>
          <a:xfrm>
            <a:off x="548640" y="6510528"/>
            <a:ext cx="5486400" cy="274320"/>
          </a:xfrm>
          <a:prstGeom prst="rect">
            <a:avLst/>
          </a:prstGeom>
          <a:noFill/>
          <a:ln/>
        </p:spPr>
        <p:txBody>
          <a:bodyPr wrap="square" lIns="0" tIns="0" rIns="0" bIns="0" rtlCol="0" anchor="ctr"/>
          <a:lstStyle/>
          <a:p>
            <a:pPr marL="0" indent="0">
              <a:buNone/>
            </a:pPr>
            <a:r>
              <a:rPr lang="en-US" sz="1000" dirty="0">
                <a:solidFill>
                  <a:srgbClr val="AAB2C0"/>
                </a:solidFill>
                <a:latin typeface="Calibri" pitchFamily="34" charset="0"/>
                <a:ea typeface="Calibri" pitchFamily="34" charset="-122"/>
                <a:cs typeface="Calibri" pitchFamily="34" charset="-120"/>
              </a:rPr>
              <a:t>SKH Metals — DMAIC Six Sigma Project</a:t>
            </a:r>
            <a:endParaRPr lang="en-US" sz="1000" dirty="0"/>
          </a:p>
        </p:txBody>
      </p:sp>
      <p:sp>
        <p:nvSpPr>
          <p:cNvPr id="11" name="Text 8"/>
          <p:cNvSpPr/>
          <p:nvPr/>
        </p:nvSpPr>
        <p:spPr>
          <a:xfrm>
            <a:off x="11612880" y="6510528"/>
            <a:ext cx="45720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384280" y="384048"/>
            <a:ext cx="502920" cy="502920"/>
          </a:xfrm>
          <a:prstGeom prst="ellipse">
            <a:avLst/>
          </a:prstGeom>
          <a:solidFill>
            <a:srgbClr val="1E2761"/>
          </a:solidFill>
          <a:ln/>
        </p:spPr>
      </p:sp>
      <p:sp>
        <p:nvSpPr>
          <p:cNvPr id="3" name="Text 1"/>
          <p:cNvSpPr/>
          <p:nvPr/>
        </p:nvSpPr>
        <p:spPr>
          <a:xfrm>
            <a:off x="11384280" y="38404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4" name="Text 2"/>
          <p:cNvSpPr/>
          <p:nvPr/>
        </p:nvSpPr>
        <p:spPr>
          <a:xfrm>
            <a:off x="566928" y="128016"/>
            <a:ext cx="73152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CONTROL</a:t>
            </a:r>
            <a:endParaRPr lang="en-US" sz="1200" dirty="0"/>
          </a:p>
        </p:txBody>
      </p:sp>
      <p:sp>
        <p:nvSpPr>
          <p:cNvPr id="5" name="Text 3"/>
          <p:cNvSpPr/>
          <p:nvPr/>
        </p:nvSpPr>
        <p:spPr>
          <a:xfrm>
            <a:off x="548640" y="365760"/>
            <a:ext cx="10424160" cy="5943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Sustaining the Gains</a:t>
            </a:r>
            <a:endParaRPr lang="en-US" sz="3000" dirty="0"/>
          </a:p>
        </p:txBody>
      </p:sp>
      <p:sp>
        <p:nvSpPr>
          <p:cNvPr id="6" name="Shape 4"/>
          <p:cNvSpPr/>
          <p:nvPr/>
        </p:nvSpPr>
        <p:spPr>
          <a:xfrm>
            <a:off x="548640" y="1234440"/>
            <a:ext cx="5212080" cy="5029200"/>
          </a:xfrm>
          <a:prstGeom prst="roundRect">
            <a:avLst>
              <a:gd name="adj" fmla="val 1091"/>
            </a:avLst>
          </a:prstGeom>
          <a:solidFill>
            <a:srgbClr val="F3F6FC"/>
          </a:solidFill>
          <a:ln w="12700">
            <a:solidFill>
              <a:srgbClr val="DCE3F0"/>
            </a:solidFill>
            <a:prstDash val="solid"/>
          </a:ln>
        </p:spPr>
      </p:sp>
      <p:sp>
        <p:nvSpPr>
          <p:cNvPr id="7" name="Text 5"/>
          <p:cNvSpPr/>
          <p:nvPr/>
        </p:nvSpPr>
        <p:spPr>
          <a:xfrm>
            <a:off x="777240" y="1417320"/>
            <a:ext cx="475488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KPIs to Sustain</a:t>
            </a:r>
            <a:endParaRPr lang="en-US" sz="1500" dirty="0"/>
          </a:p>
        </p:txBody>
      </p:sp>
      <p:sp>
        <p:nvSpPr>
          <p:cNvPr id="8" name="Text 6"/>
          <p:cNvSpPr/>
          <p:nvPr/>
        </p:nvSpPr>
        <p:spPr>
          <a:xfrm>
            <a:off x="777240" y="1828800"/>
            <a:ext cx="4754880" cy="1748117"/>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300" dirty="0">
                <a:solidFill>
                  <a:srgbClr val="1F2430"/>
                </a:solidFill>
                <a:latin typeface="Calibri" pitchFamily="34" charset="0"/>
                <a:ea typeface="Calibri" pitchFamily="34" charset="-122"/>
                <a:cs typeface="Calibri" pitchFamily="34" charset="-120"/>
              </a:rPr>
              <a:t>Process Sigma Level: tracked weekly; target ≥ 4.99σ</a:t>
            </a:r>
            <a:endParaRPr lang="en-US" sz="1300" dirty="0"/>
          </a:p>
          <a:p>
            <a:pPr marL="342900" indent="-342900">
              <a:lnSpc>
                <a:spcPct val="120000"/>
              </a:lnSpc>
              <a:spcAft>
                <a:spcPts val="1000"/>
              </a:spcAft>
              <a:buSzPct val="100000"/>
              <a:buChar char="●"/>
            </a:pPr>
            <a:r>
              <a:rPr lang="en-US" sz="1300" dirty="0">
                <a:solidFill>
                  <a:srgbClr val="1F2430"/>
                </a:solidFill>
                <a:latin typeface="Calibri" pitchFamily="34" charset="0"/>
                <a:ea typeface="Calibri" pitchFamily="34" charset="-122"/>
                <a:cs typeface="Calibri" pitchFamily="34" charset="-120"/>
              </a:rPr>
              <a:t>Preventive-maintenance (PM) compliance for dies: target 100%</a:t>
            </a:r>
            <a:endParaRPr lang="en-US" sz="1300" dirty="0"/>
          </a:p>
          <a:p>
            <a:pPr marL="342900" indent="-342900">
              <a:lnSpc>
                <a:spcPct val="120000"/>
              </a:lnSpc>
              <a:buSzPct val="100000"/>
              <a:buChar char="●"/>
            </a:pPr>
            <a:r>
              <a:rPr lang="en-US" sz="1300" dirty="0">
                <a:solidFill>
                  <a:srgbClr val="1F2430"/>
                </a:solidFill>
                <a:latin typeface="Calibri" pitchFamily="34" charset="0"/>
                <a:ea typeface="Calibri" pitchFamily="34" charset="-122"/>
                <a:cs typeface="Calibri" pitchFamily="34" charset="-120"/>
              </a:rPr>
              <a:t>Incoming-material rejection rate from Tata Steel: tracked per lot</a:t>
            </a:r>
            <a:endParaRPr lang="en-US" sz="1300" dirty="0"/>
          </a:p>
        </p:txBody>
      </p:sp>
      <p:sp>
        <p:nvSpPr>
          <p:cNvPr id="9" name="Shape 7"/>
          <p:cNvSpPr/>
          <p:nvPr/>
        </p:nvSpPr>
        <p:spPr>
          <a:xfrm>
            <a:off x="777240" y="4180242"/>
            <a:ext cx="4754880" cy="0"/>
          </a:xfrm>
          <a:prstGeom prst="line">
            <a:avLst/>
          </a:prstGeom>
          <a:noFill/>
          <a:ln w="12700">
            <a:solidFill>
              <a:srgbClr val="C7D1E3"/>
            </a:solidFill>
            <a:prstDash val="solid"/>
          </a:ln>
        </p:spPr>
      </p:sp>
      <p:sp>
        <p:nvSpPr>
          <p:cNvPr id="10" name="Text 8"/>
          <p:cNvSpPr/>
          <p:nvPr/>
        </p:nvSpPr>
        <p:spPr>
          <a:xfrm>
            <a:off x="777240" y="4424442"/>
            <a:ext cx="4754880" cy="1280160"/>
          </a:xfrm>
          <a:prstGeom prst="rect">
            <a:avLst/>
          </a:prstGeom>
          <a:noFill/>
          <a:ln/>
        </p:spPr>
        <p:txBody>
          <a:bodyPr wrap="square" lIns="0" tIns="0" rIns="0" bIns="0" rtlCol="0" anchor="t"/>
          <a:lstStyle/>
          <a:p>
            <a:pPr marL="0" indent="0">
              <a:lnSpc>
                <a:spcPct val="120000"/>
              </a:lnSpc>
              <a:buNone/>
            </a:pPr>
            <a:r>
              <a:rPr lang="en-US" sz="1200" i="1" dirty="0">
                <a:solidFill>
                  <a:srgbClr val="5B6472"/>
                </a:solidFill>
                <a:latin typeface="Calibri" pitchFamily="34" charset="0"/>
                <a:ea typeface="Calibri" pitchFamily="34" charset="-122"/>
                <a:cs typeface="Calibri" pitchFamily="34" charset="-120"/>
              </a:rPr>
              <a:t>Ownership passes to the Quality Head at project close. p-chart and PPM/Sigma reviews slot into existing shift-handover and weekly quality-review meetings — no new cadence required.</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28412405"/>
              </p:ext>
            </p:extLst>
          </p:nvPr>
        </p:nvGraphicFramePr>
        <p:xfrm>
          <a:off x="5989320" y="1234440"/>
          <a:ext cx="6035040" cy="4663440"/>
        </p:xfrm>
        <a:graphic>
          <a:graphicData uri="http://schemas.openxmlformats.org/drawingml/2006/table">
            <a:tbl>
              <a:tblPr/>
              <a:tblGrid>
                <a:gridCol w="16916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77724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Process Step</a:t>
                      </a:r>
                      <a:endParaRPr lang="en-US" sz="11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Control Item</a:t>
                      </a:r>
                      <a:endParaRPr lang="en-US" sz="11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Freq.</a:t>
                      </a:r>
                      <a:endParaRPr lang="en-US" sz="11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77240">
                <a:tc>
                  <a:txBody>
                    <a:bodyPr/>
                    <a:lstStyle/>
                    <a:p>
                      <a:pPr marL="0" indent="0" algn="l">
                        <a:buNone/>
                      </a:pPr>
                      <a:r>
                        <a:rPr lang="en-US" sz="1100" dirty="0">
                          <a:solidFill>
                            <a:srgbClr val="1F2430"/>
                          </a:solidFill>
                          <a:latin typeface="Calibri" pitchFamily="34" charset="0"/>
                          <a:ea typeface="Calibri" pitchFamily="34" charset="-122"/>
                          <a:cs typeface="Calibri" pitchFamily="34" charset="-120"/>
                        </a:rPr>
                        <a:t>Die &amp; Punch</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430"/>
                          </a:solidFill>
                          <a:latin typeface="Calibri" pitchFamily="34" charset="0"/>
                          <a:ea typeface="Calibri" pitchFamily="34" charset="-122"/>
                          <a:cs typeface="Calibri" pitchFamily="34" charset="-120"/>
                        </a:rPr>
                        <a:t>Die wear / clearance</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430"/>
                          </a:solidFill>
                          <a:latin typeface="Calibri" pitchFamily="34" charset="0"/>
                          <a:ea typeface="Calibri" pitchFamily="34" charset="-122"/>
                          <a:cs typeface="Calibri" pitchFamily="34" charset="-120"/>
                        </a:rPr>
                        <a:t>Daily</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430"/>
                          </a:solidFill>
                          <a:latin typeface="Calibri" pitchFamily="34" charset="0"/>
                          <a:ea typeface="Calibri" pitchFamily="34" charset="-122"/>
                          <a:cs typeface="Calibri" pitchFamily="34" charset="-120"/>
                        </a:rPr>
                        <a:t>Shift I/C</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l">
                        <a:buNone/>
                      </a:pPr>
                      <a:r>
                        <a:rPr lang="en-US" sz="1100" dirty="0">
                          <a:solidFill>
                            <a:srgbClr val="1F2430"/>
                          </a:solidFill>
                          <a:latin typeface="Calibri" pitchFamily="34" charset="0"/>
                          <a:ea typeface="Calibri" pitchFamily="34" charset="-122"/>
                          <a:cs typeface="Calibri" pitchFamily="34" charset="-120"/>
                        </a:rPr>
                        <a:t>Incoming Material</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100" dirty="0">
                          <a:solidFill>
                            <a:srgbClr val="1F2430"/>
                          </a:solidFill>
                          <a:latin typeface="Calibri" pitchFamily="34" charset="0"/>
                          <a:ea typeface="Calibri" pitchFamily="34" charset="-122"/>
                          <a:cs typeface="Calibri" pitchFamily="34" charset="-120"/>
                        </a:rPr>
                        <a:t>Coil hardness &amp; thickness</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ctr">
                        <a:buNone/>
                      </a:pPr>
                      <a:r>
                        <a:rPr lang="en-US" sz="1100" dirty="0">
                          <a:solidFill>
                            <a:srgbClr val="1F2430"/>
                          </a:solidFill>
                          <a:latin typeface="Calibri" pitchFamily="34" charset="0"/>
                          <a:ea typeface="Calibri" pitchFamily="34" charset="-122"/>
                          <a:cs typeface="Calibri" pitchFamily="34" charset="-120"/>
                        </a:rPr>
                        <a:t>Per lot</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ctr">
                        <a:buNone/>
                      </a:pPr>
                      <a:r>
                        <a:rPr lang="en-US" sz="1100" dirty="0">
                          <a:solidFill>
                            <a:srgbClr val="1F2430"/>
                          </a:solidFill>
                          <a:latin typeface="Calibri" pitchFamily="34" charset="0"/>
                          <a:ea typeface="Calibri" pitchFamily="34" charset="-122"/>
                          <a:cs typeface="Calibri" pitchFamily="34" charset="-120"/>
                        </a:rPr>
                        <a:t>QA Inspector</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extLst>
                  <a:ext uri="{0D108BD9-81ED-4DB2-BD59-A6C34878D82A}">
                    <a16:rowId xmlns:a16="http://schemas.microsoft.com/office/drawing/2014/main" val="10002"/>
                  </a:ext>
                </a:extLst>
              </a:tr>
              <a:tr h="777240">
                <a:tc>
                  <a:txBody>
                    <a:bodyPr/>
                    <a:lstStyle/>
                    <a:p>
                      <a:pPr marL="0" indent="0" algn="l">
                        <a:buNone/>
                      </a:pPr>
                      <a:r>
                        <a:rPr lang="en-US" sz="1100" dirty="0">
                          <a:solidFill>
                            <a:srgbClr val="1F2430"/>
                          </a:solidFill>
                          <a:latin typeface="Calibri" pitchFamily="34" charset="0"/>
                          <a:ea typeface="Calibri" pitchFamily="34" charset="-122"/>
                          <a:cs typeface="Calibri" pitchFamily="34" charset="-120"/>
                        </a:rPr>
                        <a:t>Press Process</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430"/>
                          </a:solidFill>
                          <a:latin typeface="Calibri" pitchFamily="34" charset="0"/>
                          <a:ea typeface="Calibri" pitchFamily="34" charset="-122"/>
                          <a:cs typeface="Calibri" pitchFamily="34" charset="-120"/>
                        </a:rPr>
                        <a:t>Fraction defective (p-chart)</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430"/>
                          </a:solidFill>
                          <a:latin typeface="Calibri" pitchFamily="34" charset="0"/>
                          <a:ea typeface="Calibri" pitchFamily="34" charset="-122"/>
                          <a:cs typeface="Calibri" pitchFamily="34" charset="-120"/>
                        </a:rPr>
                        <a:t>Daily</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430"/>
                          </a:solidFill>
                          <a:latin typeface="Calibri" pitchFamily="34" charset="0"/>
                          <a:ea typeface="Calibri" pitchFamily="34" charset="-122"/>
                          <a:cs typeface="Calibri" pitchFamily="34" charset="-120"/>
                        </a:rPr>
                        <a:t>Quality Engineer</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lgn="l">
                        <a:buNone/>
                      </a:pPr>
                      <a:r>
                        <a:rPr lang="en-US" sz="1100" dirty="0">
                          <a:solidFill>
                            <a:srgbClr val="1F2430"/>
                          </a:solidFill>
                          <a:latin typeface="Calibri" pitchFamily="34" charset="0"/>
                          <a:ea typeface="Calibri" pitchFamily="34" charset="-122"/>
                          <a:cs typeface="Calibri" pitchFamily="34" charset="-120"/>
                        </a:rPr>
                        <a:t>Press Process</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l">
                        <a:buNone/>
                      </a:pPr>
                      <a:r>
                        <a:rPr lang="en-US" sz="1100" dirty="0">
                          <a:solidFill>
                            <a:srgbClr val="1F2430"/>
                          </a:solidFill>
                          <a:latin typeface="Calibri" pitchFamily="34" charset="0"/>
                          <a:ea typeface="Calibri" pitchFamily="34" charset="-122"/>
                          <a:cs typeface="Calibri" pitchFamily="34" charset="-120"/>
                        </a:rPr>
                        <a:t>Sigma Level</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ctr">
                        <a:buNone/>
                      </a:pPr>
                      <a:r>
                        <a:rPr lang="en-US" sz="1100" dirty="0">
                          <a:solidFill>
                            <a:srgbClr val="1F2430"/>
                          </a:solidFill>
                          <a:latin typeface="Calibri" pitchFamily="34" charset="0"/>
                          <a:ea typeface="Calibri" pitchFamily="34" charset="-122"/>
                          <a:cs typeface="Calibri" pitchFamily="34" charset="-120"/>
                        </a:rPr>
                        <a:t>Weekly</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tc>
                  <a:txBody>
                    <a:bodyPr/>
                    <a:lstStyle/>
                    <a:p>
                      <a:pPr marL="0" indent="0" algn="ctr">
                        <a:buNone/>
                      </a:pPr>
                      <a:r>
                        <a:rPr lang="en-US" sz="1100" dirty="0">
                          <a:solidFill>
                            <a:srgbClr val="1F2430"/>
                          </a:solidFill>
                          <a:latin typeface="Calibri" pitchFamily="34" charset="0"/>
                          <a:ea typeface="Calibri" pitchFamily="34" charset="-122"/>
                          <a:cs typeface="Calibri" pitchFamily="34" charset="-120"/>
                        </a:rPr>
                        <a:t>Quality Head</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3F6FC"/>
                    </a:solidFill>
                  </a:tcPr>
                </a:tc>
                <a:extLst>
                  <a:ext uri="{0D108BD9-81ED-4DB2-BD59-A6C34878D82A}">
                    <a16:rowId xmlns:a16="http://schemas.microsoft.com/office/drawing/2014/main" val="10004"/>
                  </a:ext>
                </a:extLst>
              </a:tr>
              <a:tr h="777240">
                <a:tc>
                  <a:txBody>
                    <a:bodyPr/>
                    <a:lstStyle/>
                    <a:p>
                      <a:pPr marL="0" indent="0" algn="l">
                        <a:buNone/>
                      </a:pPr>
                      <a:r>
                        <a:rPr lang="en-US" sz="1100" dirty="0">
                          <a:solidFill>
                            <a:srgbClr val="1F2430"/>
                          </a:solidFill>
                          <a:latin typeface="Calibri" pitchFamily="34" charset="0"/>
                          <a:ea typeface="Calibri" pitchFamily="34" charset="-122"/>
                          <a:cs typeface="Calibri" pitchFamily="34" charset="-120"/>
                        </a:rPr>
                        <a:t>Operator / SOP</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430"/>
                          </a:solidFill>
                          <a:latin typeface="Calibri" pitchFamily="34" charset="0"/>
                          <a:ea typeface="Calibri" pitchFamily="34" charset="-122"/>
                          <a:cs typeface="Calibri" pitchFamily="34" charset="-120"/>
                        </a:rPr>
                        <a:t>SOP adherence (LPA)</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430"/>
                          </a:solidFill>
                          <a:latin typeface="Calibri" pitchFamily="34" charset="0"/>
                          <a:ea typeface="Calibri" pitchFamily="34" charset="-122"/>
                          <a:cs typeface="Calibri" pitchFamily="34" charset="-120"/>
                        </a:rPr>
                        <a:t>Weekly</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430"/>
                          </a:solidFill>
                          <a:latin typeface="Calibri" pitchFamily="34" charset="0"/>
                          <a:ea typeface="Calibri" pitchFamily="34" charset="-122"/>
                          <a:cs typeface="Calibri" pitchFamily="34" charset="-120"/>
                        </a:rPr>
                        <a:t>Line Supervisor</a:t>
                      </a:r>
                      <a:endParaRPr lang="en-US" sz="1100" dirty="0">
                        <a:latin typeface="Calibri" charset="0"/>
                        <a:ea typeface="Calibri" charset="0"/>
                        <a:cs typeface="Calibri" charset="0"/>
                      </a:endParaRPr>
                    </a:p>
                  </a:txBody>
                  <a:tcPr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9"/>
          <p:cNvSpPr/>
          <p:nvPr/>
        </p:nvSpPr>
        <p:spPr>
          <a:xfrm>
            <a:off x="548640" y="6510528"/>
            <a:ext cx="5486400" cy="274320"/>
          </a:xfrm>
          <a:prstGeom prst="rect">
            <a:avLst/>
          </a:prstGeom>
          <a:noFill/>
          <a:ln/>
        </p:spPr>
        <p:txBody>
          <a:bodyPr wrap="square" lIns="0" tIns="0" rIns="0" bIns="0" rtlCol="0" anchor="ctr"/>
          <a:lstStyle/>
          <a:p>
            <a:pPr marL="0" indent="0">
              <a:buNone/>
            </a:pPr>
            <a:r>
              <a:rPr lang="en-US" sz="1000" dirty="0">
                <a:solidFill>
                  <a:srgbClr val="AAB2C0"/>
                </a:solidFill>
                <a:latin typeface="Calibri" pitchFamily="34" charset="0"/>
                <a:ea typeface="Calibri" pitchFamily="34" charset="-122"/>
                <a:cs typeface="Calibri" pitchFamily="34" charset="-120"/>
              </a:rPr>
              <a:t>SKH Metals — DMAIC Six Sigma Project</a:t>
            </a:r>
            <a:endParaRPr lang="en-US" sz="1000" dirty="0"/>
          </a:p>
        </p:txBody>
      </p:sp>
      <p:sp>
        <p:nvSpPr>
          <p:cNvPr id="13" name="Text 10"/>
          <p:cNvSpPr/>
          <p:nvPr/>
        </p:nvSpPr>
        <p:spPr>
          <a:xfrm>
            <a:off x="11612880" y="6510528"/>
            <a:ext cx="45720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8507828" y="-1508760"/>
            <a:ext cx="5029200" cy="5029200"/>
          </a:xfrm>
          <a:prstGeom prst="ellipse">
            <a:avLst/>
          </a:prstGeom>
          <a:solidFill>
            <a:srgbClr val="1E2761">
              <a:alpha val="60000"/>
            </a:srgbClr>
          </a:solidFill>
          <a:ln/>
        </p:spPr>
      </p:sp>
      <p:sp>
        <p:nvSpPr>
          <p:cNvPr id="3" name="Text 1"/>
          <p:cNvSpPr/>
          <p:nvPr/>
        </p:nvSpPr>
        <p:spPr>
          <a:xfrm>
            <a:off x="548640" y="457200"/>
            <a:ext cx="7315200" cy="32004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RESULTS &amp; CONCLUSION</a:t>
            </a:r>
            <a:endParaRPr lang="en-US" sz="1300" dirty="0"/>
          </a:p>
        </p:txBody>
      </p:sp>
      <p:sp>
        <p:nvSpPr>
          <p:cNvPr id="4" name="Text 2"/>
          <p:cNvSpPr/>
          <p:nvPr/>
        </p:nvSpPr>
        <p:spPr>
          <a:xfrm>
            <a:off x="548640" y="822960"/>
            <a:ext cx="1078992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From Ad-Hoc Rejections to a Controlled Process</a:t>
            </a:r>
            <a:endParaRPr lang="en-US" sz="2800" dirty="0"/>
          </a:p>
        </p:txBody>
      </p:sp>
      <p:sp>
        <p:nvSpPr>
          <p:cNvPr id="5" name="Shape 3"/>
          <p:cNvSpPr/>
          <p:nvPr/>
        </p:nvSpPr>
        <p:spPr>
          <a:xfrm>
            <a:off x="322729" y="1699955"/>
            <a:ext cx="4340711" cy="3140985"/>
          </a:xfrm>
          <a:prstGeom prst="roundRect">
            <a:avLst>
              <a:gd name="adj" fmla="val 2290"/>
            </a:avLst>
          </a:prstGeom>
          <a:solidFill>
            <a:srgbClr val="FFFFFF"/>
          </a:solidFill>
          <a:ln/>
        </p:spPr>
      </p:sp>
      <p:sp>
        <p:nvSpPr>
          <p:cNvPr id="7" name="Text 4"/>
          <p:cNvSpPr/>
          <p:nvPr/>
        </p:nvSpPr>
        <p:spPr>
          <a:xfrm>
            <a:off x="4800600" y="1783080"/>
            <a:ext cx="6858000" cy="1737360"/>
          </a:xfrm>
          <a:prstGeom prst="rect">
            <a:avLst/>
          </a:prstGeom>
          <a:noFill/>
          <a:ln/>
        </p:spPr>
        <p:txBody>
          <a:bodyPr wrap="square" lIns="0" tIns="0" rIns="0" bIns="0" rtlCol="0" anchor="t"/>
          <a:lstStyle/>
          <a:p>
            <a:pPr marL="0" indent="0">
              <a:lnSpc>
                <a:spcPct val="130000"/>
              </a:lnSpc>
              <a:buNone/>
            </a:pPr>
            <a:r>
              <a:rPr lang="en-US" sz="1500" dirty="0">
                <a:solidFill>
                  <a:srgbClr val="E4E9F5"/>
                </a:solidFill>
                <a:latin typeface="Calibri" pitchFamily="34" charset="0"/>
                <a:ea typeface="Calibri" pitchFamily="34" charset="-122"/>
                <a:cs typeface="Calibri" pitchFamily="34" charset="-120"/>
              </a:rPr>
              <a:t>Fishbone analysis and root-cause prioritisation pointed to die/punch wear and incoming coil-material variation as the leading causes behind Crack and Flange Short. Five corrective actions, sequenced by an Impact-Effort matrix lifting the Sigma Level from 4.50 to approximately 4.99, sustained through the Control-phase KPI dashboard.</a:t>
            </a:r>
            <a:endParaRPr lang="en-US" sz="1500" dirty="0"/>
          </a:p>
        </p:txBody>
      </p:sp>
      <p:sp>
        <p:nvSpPr>
          <p:cNvPr id="8" name="Text 5"/>
          <p:cNvSpPr/>
          <p:nvPr/>
        </p:nvSpPr>
        <p:spPr>
          <a:xfrm>
            <a:off x="4800600" y="3611880"/>
            <a:ext cx="6858000" cy="1051560"/>
          </a:xfrm>
          <a:prstGeom prst="rect">
            <a:avLst/>
          </a:prstGeom>
          <a:noFill/>
          <a:ln/>
        </p:spPr>
        <p:txBody>
          <a:bodyPr wrap="square" lIns="0" tIns="0" rIns="0" bIns="0" rtlCol="0" anchor="t"/>
          <a:lstStyle/>
          <a:p>
            <a:pPr marL="0" indent="0">
              <a:lnSpc>
                <a:spcPct val="125000"/>
              </a:lnSpc>
              <a:buNone/>
            </a:pPr>
            <a:r>
              <a:rPr lang="en-US" sz="1300" i="1" dirty="0">
                <a:solidFill>
                  <a:srgbClr val="9FB3E8"/>
                </a:solidFill>
                <a:latin typeface="Calibri" pitchFamily="34" charset="0"/>
                <a:ea typeface="Calibri" pitchFamily="34" charset="-122"/>
                <a:cs typeface="Calibri" pitchFamily="34" charset="-120"/>
              </a:rPr>
              <a:t>Key learning: at very large inspection volumes, even a small fraction defective implies a high underlying Sigma Level — the real value of DMAIC here is converting an ad-hoc rejection log into a structured, data-driven, sustainable response.</a:t>
            </a:r>
            <a:endParaRPr lang="en-US" sz="1300" dirty="0"/>
          </a:p>
        </p:txBody>
      </p:sp>
      <p:sp>
        <p:nvSpPr>
          <p:cNvPr id="9" name="Shape 6"/>
          <p:cNvSpPr/>
          <p:nvPr/>
        </p:nvSpPr>
        <p:spPr>
          <a:xfrm>
            <a:off x="548640" y="5074920"/>
            <a:ext cx="11064240" cy="0"/>
          </a:xfrm>
          <a:prstGeom prst="line">
            <a:avLst/>
          </a:prstGeom>
          <a:noFill/>
          <a:ln w="12700">
            <a:solidFill>
              <a:srgbClr val="3A4482"/>
            </a:solidFill>
            <a:prstDash val="solid"/>
          </a:ln>
        </p:spPr>
      </p:sp>
      <p:sp>
        <p:nvSpPr>
          <p:cNvPr id="15" name="Text 12"/>
          <p:cNvSpPr/>
          <p:nvPr/>
        </p:nvSpPr>
        <p:spPr>
          <a:xfrm>
            <a:off x="11612880" y="6510528"/>
            <a:ext cx="45720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12</a:t>
            </a:r>
            <a:endParaRPr lang="en-US" sz="1000" dirty="0"/>
          </a:p>
        </p:txBody>
      </p:sp>
      <p:pic>
        <p:nvPicPr>
          <p:cNvPr id="17" name="Picture 16">
            <a:extLst>
              <a:ext uri="{FF2B5EF4-FFF2-40B4-BE49-F238E27FC236}">
                <a16:creationId xmlns:a16="http://schemas.microsoft.com/office/drawing/2014/main" id="{C8B77956-F4EA-A784-5FD8-0E068155FBBE}"/>
              </a:ext>
            </a:extLst>
          </p:cNvPr>
          <p:cNvPicPr>
            <a:picLocks noChangeAspect="1"/>
          </p:cNvPicPr>
          <p:nvPr/>
        </p:nvPicPr>
        <p:blipFill>
          <a:blip r:embed="rId3"/>
          <a:stretch>
            <a:fillRect/>
          </a:stretch>
        </p:blipFill>
        <p:spPr>
          <a:xfrm>
            <a:off x="322729" y="1824988"/>
            <a:ext cx="4205505" cy="30159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ellipse">
            <a:avLst/>
          </a:prstGeom>
          <a:solidFill>
            <a:srgbClr val="1C7293">
              <a:alpha val="50000"/>
            </a:srgbClr>
          </a:solidFill>
          <a:ln/>
        </p:spPr>
      </p:sp>
      <p:sp>
        <p:nvSpPr>
          <p:cNvPr id="3" name="Text 1"/>
          <p:cNvSpPr/>
          <p:nvPr/>
        </p:nvSpPr>
        <p:spPr>
          <a:xfrm>
            <a:off x="731520" y="2468880"/>
            <a:ext cx="105156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4" name="Text 2"/>
          <p:cNvSpPr/>
          <p:nvPr/>
        </p:nvSpPr>
        <p:spPr>
          <a:xfrm>
            <a:off x="731520" y="3429000"/>
            <a:ext cx="10515600" cy="548640"/>
          </a:xfrm>
          <a:prstGeom prst="rect">
            <a:avLst/>
          </a:prstGeom>
          <a:noFill/>
          <a:ln/>
        </p:spPr>
        <p:txBody>
          <a:bodyPr wrap="square" lIns="0" tIns="0" rIns="0" bIns="0" rtlCol="0" anchor="ctr"/>
          <a:lstStyle/>
          <a:p>
            <a:pPr marL="0" indent="0">
              <a:buNone/>
            </a:pPr>
            <a:r>
              <a:rPr lang="en-US" sz="2000" dirty="0">
                <a:solidFill>
                  <a:srgbClr val="CADCFC"/>
                </a:solidFill>
                <a:latin typeface="Cambria" pitchFamily="34" charset="0"/>
                <a:ea typeface="Cambria" pitchFamily="34" charset="-122"/>
                <a:cs typeface="Cambria" pitchFamily="34" charset="-120"/>
              </a:rPr>
              <a:t>Questions &amp; Discussion</a:t>
            </a:r>
            <a:endParaRPr lang="en-US" sz="2000" dirty="0"/>
          </a:p>
        </p:txBody>
      </p:sp>
      <p:sp>
        <p:nvSpPr>
          <p:cNvPr id="5" name="Shape 3"/>
          <p:cNvSpPr/>
          <p:nvPr/>
        </p:nvSpPr>
        <p:spPr>
          <a:xfrm>
            <a:off x="731520" y="4206240"/>
            <a:ext cx="4572000" cy="0"/>
          </a:xfrm>
          <a:prstGeom prst="line">
            <a:avLst/>
          </a:prstGeom>
          <a:noFill/>
          <a:ln w="19050">
            <a:solidFill>
              <a:srgbClr val="1C7293"/>
            </a:solidFill>
            <a:prstDash val="solid"/>
          </a:ln>
        </p:spPr>
      </p:sp>
      <p:sp>
        <p:nvSpPr>
          <p:cNvPr id="6" name="Text 4"/>
          <p:cNvSpPr/>
          <p:nvPr/>
        </p:nvSpPr>
        <p:spPr>
          <a:xfrm>
            <a:off x="731520" y="4343400"/>
            <a:ext cx="96012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Anushka Nagar   ·   Anuj Kaushik   ·   Aastha Jha   ·   Khushi Narang</a:t>
            </a:r>
            <a:endParaRPr lang="en-US" sz="1500" dirty="0"/>
          </a:p>
        </p:txBody>
      </p:sp>
      <p:sp>
        <p:nvSpPr>
          <p:cNvPr id="7" name="Text 5"/>
          <p:cNvSpPr/>
          <p:nvPr/>
        </p:nvSpPr>
        <p:spPr>
          <a:xfrm>
            <a:off x="731520" y="4709160"/>
            <a:ext cx="9601200" cy="320040"/>
          </a:xfrm>
          <a:prstGeom prst="rect">
            <a:avLst/>
          </a:prstGeom>
          <a:noFill/>
          <a:ln/>
        </p:spPr>
        <p:txBody>
          <a:bodyPr wrap="square" lIns="0" tIns="0" rIns="0" bIns="0" rtlCol="0" anchor="ctr"/>
          <a:lstStyle/>
          <a:p>
            <a:pPr marL="0" indent="0">
              <a:buNone/>
            </a:pPr>
            <a:r>
              <a:rPr lang="en-US" sz="1300" dirty="0">
                <a:solidFill>
                  <a:srgbClr val="9FB3E8"/>
                </a:solidFill>
                <a:latin typeface="Calibri" pitchFamily="34" charset="0"/>
                <a:ea typeface="Calibri" pitchFamily="34" charset="-122"/>
                <a:cs typeface="Calibri" pitchFamily="34" charset="-120"/>
              </a:rPr>
              <a:t>Total Quality Management &amp; Six Sigma  ·  Dr Akansha Jain  ·  FIIB, Term IV</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2248</TotalTime>
  <Words>1392</Words>
  <Application>Microsoft Office PowerPoint</Application>
  <PresentationFormat>Widescreen</PresentationFormat>
  <Paragraphs>249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SKH Metals — DMAIC Six Sigma Project</dc:title>
  <dc:subject>PptxGenJS Presentation</dc:subject>
  <dc:creator>Anushka Nagar, Anuj Kaushik, Aastha Jha, Khushi Narang</dc:creator>
  <cp:lastModifiedBy>Anuj Kaushik</cp:lastModifiedBy>
  <cp:revision>7</cp:revision>
  <dcterms:created xsi:type="dcterms:W3CDTF">2026-09-03T02:16:37Z</dcterms:created>
  <dcterms:modified xsi:type="dcterms:W3CDTF">2026-09-13T15:29:25Z</dcterms:modified>
</cp:coreProperties>
</file>